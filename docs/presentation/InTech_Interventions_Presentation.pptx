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e175283-e2c2-93ff-b5ca-da0bda8e66c8}">
          <p14:sldIdLst>
            <p14:sldId id="256"/>
          </p14:sldIdLst>
        </p14:section>
        <p14:section name="Contexte" id="{95a7bb2f-e2e4-5202-ef02-a002ab94ba90}">
          <p14:sldIdLst>
            <p14:sldId id="257"/>
          </p14:sldIdLst>
        </p14:section>
        <p14:section name="Solution" id="{c40f1ab7-2d6f-af37-de45-5fb595740efb}">
          <p14:sldIdLst>
            <p14:sldId id="258"/>
          </p14:sldIdLst>
        </p14:section>
        <p14:section name="Démarche" id="{9cf56bd4-0df5-6e5b-27d6-8348b8a27ba6}">
          <p14:sldIdLst>
            <p14:sldId id="259"/>
            <p14:sldId id="260"/>
            <p14:sldId id="261"/>
          </p14:sldIdLst>
        </p14:section>
        <p14:section name="Démonstration" id="{b164d6a9-e74d-7b0a-5d2a-b5d66b6bb444}">
          <p14:sldIdLst>
            <p14:sldId id="262"/>
            <p14:sldId id="263"/>
          </p14:sldIdLst>
        </p14:section>
        <p14:section name="Résultats" id="{4bf8efcb-8972-a743-3b20-3fa996f39ce9}">
          <p14:sldIdLst>
            <p14:sldId id="264"/>
            <p14:sldId id="265"/>
          </p14:sldIdLst>
        </p14:section>
        <p14:section name="Conclusion" id="{a8696e29-8eb2-9105-0a7d-42f9acdeb457}">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 30 s
Bonjour à toutes et à tous. Je m’appelle BenSalem Rania, en formation d’ingénieur à ESPRIT.
Je vais vous présenter InTech Interventions, une plateforme web de gestion des interventions techniques, réalisée pendant mon stage d’ingénieur chez InTech Solutions TN, en juillet et août 2026, sous l’encadrement de Mme Hasnaoui Jihen.
En huit minutes : le contexte, la solution, la démarche, l’architecture, la plateforme en images, puis le bilan et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1:15]  ≈ 45 s
Chez InTech Solutions TN, les techniciens se déplacent chez les clients pour installer, entretenir et réparer des équipements.
Mais la gestion de ces interventions était dispersée : le client signalait son besoin par téléphone, le responsable notait la demande et prévenait un technicien oralement, les comptes rendus étaient manuscrits, et le suivi restait dans des fichiers Excel.
Conséquences : un avancement difficile à suivre, des informations perdues entre le client, le responsable et le technicien, des rapports longs et non standardisés, et aucun indicateur de performance ou de satisfaction.
→ D’où la question : comment centraliser tout le cycle de vie d’une intervention dans un seul outil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2:00]  ≈ 45 s
Ma réponse : une seule plateforme, avec quatre espaces.
Le client déclare sa panne, suit sa demande et évalue le service.
Le responsable maintenance planifie, affecte les techniciens et pilote l’activité.
Le technicien intervient, partage sa position et documente son travail.
L’administrateur gère les comptes et les accès.
Comme vous le voyez sur la capture, après la connexion chaque utilisateur choisit l’espace autorisé par son rôle, et ne voit que ce qui le concerne. De la demande jusqu’au rapport final, chaque action est enregistrée.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2:40]  ≈ 40 s
Pour organiser le travail, j’ai suivi la méthode Scrum, adaptée à la durée du stage : huit sprints d’une semaine.
On part de la conception et de la mise en place du projet, puis l’authentification et les rôles, les clients et les équipements, les demandes avec l’affectation et la notification par email, le planning et les statuts, les photos, le rapport PDF et l’évaluation, le tableau de bord et l’assistant IA, et enfin les tests et le déploiement.
Chaque sprint suivait la même boucle — planifier, développer, tester, ajuster — et se terminait par un incrément testable, ajusté selon les retours de l’encadrante.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 3:25]  ≈ 45 s
Sous le capot, l’application suit une architecture trois tiers.
Le frontend est une application monopage React avec TypeScript, responsive, avec une interface dédiée à chaque rôle, des graphiques et une carte des techniciens.
Le backend, avec Django REST Framework, expose des API sécurisées par jetons JWT ; les permissions sont vérifiées par rôle sur chaque route, et Django Channels assure le temps réel via WebSocket.
En bas, la base PostgreSQL et le stockage des photos, plus deux services externes : l’API Gemini pour l’assistant IA et un serveur SMTP pour les emails.
Chaque couche est testable et remplaçable indépendamment.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 – 4:05]  ≈ 40 s
Avant de coder, j’ai modélisé le métier en UML.
Le diagramme de cas d’utilisation fait apparaître les quatre acteurs et ce que chacun peut faire. Le diagramme de classes fixe les objets métier et leurs relations. Huit diagrammes de séquence décrivent les scénarios clés : authentification, demande, affectation, clôture, génération du PDF…
Et surtout, le cycle de vie d’une intervention, en quatre statuts : en attente, affectée, en cours, terminée. C’est ce cycle qui structure toute l’application.
→ Transition : « Voyons maintenant la plateforme elle-même.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 – 5:00]  ≈ 55 s
Étape 1, l’espace client. Le client indique le type de panne et la priorité, puis décrit le problème. L’assistant IA, basé sur Gemini, lui propose une description structurée qu’il peut corriger ; si l’IA est indisponible, un modèle de description à compléter est proposé. La date souhaitée est contrôlée : elle doit être postérieure à aujourd’hui.
Étape 2, l’espace responsable. Il voit les demandes en attente, consulte le détail de chacune et affecte un technicien en un clic. Le technicien reçoit aussitôt un email de notification, et la demande passe au statut « affectée ».
Le client suit l’évolution du statut depuis son 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5:50]  ≈ 50 s
Côté technicien, l’interface est pensée pour le terrain.
Il retrouve ses tâches, démarre l’intervention et partage sa position GPS. Cette position est transmise en temps réel par WebSocket au responsable, qui suit son équipe sur une carte.
Sur place, il ajoute une photo avant intervention puis une photo après réparation ; elles sont rattachées à l’intervention et reprises dans le rapport. À la clôture, il rédige un compte-rendu et l’intervention passe à « Terminée ».
On obtient ainsi un historique complet et vérifiable, là où avant il n’y avait qu’un appel téléphonique.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 – 6:35]  ≈ 45 s
Une fois l’intervention terminée, la plateforme génère automatiquement un rapport PDF : synthèse, chronologie, photos avant et après, avis du client et zone de signatures. Plus besoin de le rédiger à la main.
Et chaque rôle dispose de son propre tableau de bord : répartition par statut et par priorité, temps moyen de résolution, satisfaction moyenne, interventions en retard et, pour le responsable, la charge de chaque technicien.
Le pilotage se fait sur des chiffres, et non plus sur des impressions.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 – 7:15]  ≈ 40 s
Côté qualité, 30 tests automatisés couvrent le backend, et ils passent tous : permissions par rôle, visibilité des interventions, tableaux de bord, contrôle des dates, assistant IA et géolocalisation.
Trois défis techniques ont jalonné le projet.
Le temps réel : si la connexion WebSocket tombe, l’application bascule automatiquement sur l’API REST.
L’assistant IA : les modèles Gemini sont régulièrement retirés, donc l’application choisit automatiquement un modèle disponible.
La sécurité : chaque API vérifie le rôle de l’utilisateur côté serveur — masquer un bouton dans l’interface ne suffit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 – 8:00]  ≈ 45 s
Pour conclure : InTech Interventions remplace le téléphone, le papier et Excel par un outil unique pour quatre rôles, avec une traçabilité complète de la demande au rapport.
Ce stage m’a permis de mener un projet full stack complet, de la modélisation UML jusqu’aux tests, et de travailler sur des sujets concrets : temps réel, intelligence artificielle et sécurité.
Pour la suite, plusieurs pistes : une application mobile pour les techniciens, des notifications push et SMS, une affectation optimisée par géolocalisation et un module de facturation.
Merci pour votre attention. Je reste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498080" y="-2011680"/>
            <a:ext cx="6400800" cy="6400800"/>
          </a:xfrm>
          <a:prstGeom prst="ellipse">
            <a:avLst/>
          </a:prstGeom>
          <a:solidFill>
            <a:srgbClr val="2563EB">
              <a:alpha val="18000"/>
            </a:srgbClr>
          </a:solidFill>
          <a:ln w="12700">
            <a:solidFill>
              <a:srgbClr val="0F172A">
                <a:alpha val="0"/>
              </a:srgbClr>
            </a:solidFill>
            <a:prstDash val="solid"/>
          </a:ln>
        </p:spPr>
      </p:sp>
      <p:sp>
        <p:nvSpPr>
          <p:cNvPr id="3" name="Text 1"/>
          <p:cNvSpPr txBox="1"/>
          <p:nvPr/>
        </p:nvSpPr>
        <p:spPr>
          <a:xfrm>
            <a:off x="640080" y="731520"/>
            <a:ext cx="5486400" cy="274320"/>
          </a:xfrm>
          <a:prstGeom prst="rect">
            <a:avLst/>
          </a:prstGeom>
          <a:noFill/>
          <a:ln/>
        </p:spPr>
        <p:txBody>
          <a:bodyPr wrap="square" lIns="0" tIns="0" rIns="0" bIns="0" rtlCol="0" anchor="t"/>
          <a:lstStyle/>
          <a:p>
            <a:pPr indent="0" marL="0">
              <a:buNone/>
            </a:pPr>
            <a:r>
              <a:rPr lang="en-US" sz="1200" b="1" spc="200" kern="0" dirty="0">
                <a:solidFill>
                  <a:srgbClr val="F59E0B"/>
                </a:solidFill>
                <a:latin typeface="Inter" pitchFamily="34" charset="0"/>
                <a:ea typeface="Inter" pitchFamily="34" charset="-122"/>
                <a:cs typeface="Inter" pitchFamily="34" charset="-120"/>
              </a:rPr>
              <a:t>INTECH SOLUTIONS TN  ·  STAGE D’INGÉNIEUR</a:t>
            </a:r>
            <a:endParaRPr lang="en-US" sz="1200" dirty="0"/>
          </a:p>
        </p:txBody>
      </p:sp>
      <p:sp>
        <p:nvSpPr>
          <p:cNvPr id="4" name="Text 2"/>
          <p:cNvSpPr txBox="1"/>
          <p:nvPr/>
        </p:nvSpPr>
        <p:spPr>
          <a:xfrm>
            <a:off x="640080" y="1234440"/>
            <a:ext cx="5120640" cy="1920240"/>
          </a:xfrm>
          <a:prstGeom prst="rect">
            <a:avLst/>
          </a:prstGeom>
          <a:noFill/>
          <a:ln/>
        </p:spPr>
        <p:txBody>
          <a:bodyPr wrap="square" lIns="0" tIns="0" rIns="0" bIns="0" rtlCol="0" anchor="t"/>
          <a:lstStyle/>
          <a:p>
            <a:pPr indent="0" marL="0">
              <a:lnSpc>
                <a:spcPct val="95000"/>
              </a:lnSpc>
              <a:buNone/>
            </a:pPr>
            <a:r>
              <a:rPr lang="en-US" sz="5400" b="1" dirty="0">
                <a:solidFill>
                  <a:srgbClr val="FFFFFF"/>
                </a:solidFill>
                <a:latin typeface="Inter" pitchFamily="34" charset="0"/>
                <a:ea typeface="Inter" pitchFamily="34" charset="-122"/>
                <a:cs typeface="Inter" pitchFamily="34" charset="-120"/>
              </a:rPr>
              <a:t>InTech</a:t>
            </a:r>
            <a:endParaRPr lang="en-US" sz="5400" dirty="0"/>
          </a:p>
          <a:p>
            <a:pPr indent="0" marL="0">
              <a:lnSpc>
                <a:spcPct val="95000"/>
              </a:lnSpc>
              <a:buNone/>
            </a:pPr>
            <a:r>
              <a:rPr lang="en-US" sz="5400" b="1" dirty="0">
                <a:solidFill>
                  <a:srgbClr val="FFFFFF"/>
                </a:solidFill>
                <a:latin typeface="Inter" pitchFamily="34" charset="0"/>
                <a:ea typeface="Inter" pitchFamily="34" charset="-122"/>
                <a:cs typeface="Inter" pitchFamily="34" charset="-120"/>
              </a:rPr>
              <a:t>Interventions</a:t>
            </a:r>
            <a:endParaRPr lang="en-US" sz="5400" dirty="0"/>
          </a:p>
        </p:txBody>
      </p:sp>
      <p:sp>
        <p:nvSpPr>
          <p:cNvPr id="5" name="Text 3"/>
          <p:cNvSpPr txBox="1"/>
          <p:nvPr/>
        </p:nvSpPr>
        <p:spPr>
          <a:xfrm>
            <a:off x="640080" y="3291840"/>
            <a:ext cx="4663440" cy="914400"/>
          </a:xfrm>
          <a:prstGeom prst="rect">
            <a:avLst/>
          </a:prstGeom>
          <a:noFill/>
          <a:ln/>
        </p:spPr>
        <p:txBody>
          <a:bodyPr wrap="square" lIns="0" tIns="0" rIns="0" bIns="0" rtlCol="0" anchor="t"/>
          <a:lstStyle/>
          <a:p>
            <a:pPr indent="0" marL="0">
              <a:lnSpc>
                <a:spcPct val="115000"/>
              </a:lnSpc>
              <a:buNone/>
            </a:pPr>
            <a:r>
              <a:rPr lang="en-US" sz="1800" dirty="0">
                <a:solidFill>
                  <a:srgbClr val="CBD5E1"/>
                </a:solidFill>
                <a:latin typeface="Inter" pitchFamily="34" charset="0"/>
                <a:ea typeface="Inter" pitchFamily="34" charset="-122"/>
                <a:cs typeface="Inter" pitchFamily="34" charset="-120"/>
              </a:rPr>
              <a:t>La plateforme web qui centralise les interventions techniques, de la demande au rapport final.</a:t>
            </a:r>
            <a:endParaRPr lang="en-US" sz="1800" dirty="0"/>
          </a:p>
        </p:txBody>
      </p:sp>
      <p:sp>
        <p:nvSpPr>
          <p:cNvPr id="6" name="Text 4"/>
          <p:cNvSpPr txBox="1"/>
          <p:nvPr/>
        </p:nvSpPr>
        <p:spPr>
          <a:xfrm>
            <a:off x="640080" y="4983480"/>
            <a:ext cx="4754880" cy="109728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Inter" pitchFamily="34" charset="0"/>
                <a:ea typeface="Inter" pitchFamily="34" charset="-122"/>
                <a:cs typeface="Inter" pitchFamily="34" charset="-120"/>
              </a:rPr>
              <a:t>BenSalem Rania</a:t>
            </a:r>
            <a:endParaRPr lang="en-US" sz="1600" dirty="0"/>
          </a:p>
          <a:p>
            <a:pPr indent="0" marL="0">
              <a:spcAft>
                <a:spcPts val="400"/>
              </a:spcAft>
              <a:buNone/>
            </a:pPr>
            <a:r>
              <a:rPr lang="en-US" sz="1400" dirty="0">
                <a:solidFill>
                  <a:srgbClr val="CBD5E1"/>
                </a:solidFill>
                <a:latin typeface="Inter" pitchFamily="34" charset="0"/>
                <a:ea typeface="Inter" pitchFamily="34" charset="-122"/>
                <a:cs typeface="Inter" pitchFamily="34" charset="-120"/>
              </a:rPr>
              <a:t>Encadrante : Mme Hasnaoui Jihen</a:t>
            </a:r>
            <a:endParaRPr lang="en-US" sz="1600" dirty="0"/>
          </a:p>
          <a:p>
            <a:pPr indent="0" marL="0">
              <a:spcAft>
                <a:spcPts val="400"/>
              </a:spcAft>
              <a:buNone/>
            </a:pPr>
            <a:r>
              <a:rPr lang="en-US" sz="1400" dirty="0">
                <a:solidFill>
                  <a:srgbClr val="94A3B8"/>
                </a:solidFill>
                <a:latin typeface="Inter" pitchFamily="34" charset="0"/>
                <a:ea typeface="Inter" pitchFamily="34" charset="-122"/>
                <a:cs typeface="Inter" pitchFamily="34" charset="-120"/>
              </a:rPr>
              <a:t>ESPRIT  ·  Juillet – Août 2026</a:t>
            </a:r>
            <a:endParaRPr lang="en-US" sz="1600" dirty="0"/>
          </a:p>
        </p:txBody>
      </p:sp>
      <p:sp>
        <p:nvSpPr>
          <p:cNvPr id="7" name="Shape 5"/>
          <p:cNvSpPr/>
          <p:nvPr/>
        </p:nvSpPr>
        <p:spPr>
          <a:xfrm>
            <a:off x="5989320" y="914400"/>
            <a:ext cx="5669280" cy="3751326"/>
          </a:xfrm>
          <a:prstGeom prst="roundRect">
            <a:avLst>
              <a:gd name="adj" fmla="val 1950"/>
            </a:avLst>
          </a:prstGeom>
          <a:solidFill>
            <a:srgbClr val="1E293B"/>
          </a:solidFill>
          <a:ln w="9525">
            <a:solidFill>
              <a:srgbClr val="334155"/>
            </a:solidFill>
            <a:prstDash val="solid"/>
          </a:ln>
          <a:effectLst>
            <a:outerShdw sx="100000" sy="100000" kx="0" ky="0" algn="bl" rotWithShape="0" blurRad="177800" dist="50800" dir="5400000">
              <a:srgbClr val="0F172A">
                <a:alpha val="16000"/>
              </a:srgbClr>
            </a:outerShdw>
          </a:effectLst>
        </p:spPr>
      </p:sp>
      <p:sp>
        <p:nvSpPr>
          <p:cNvPr id="8" name="Shape 6"/>
          <p:cNvSpPr/>
          <p:nvPr/>
        </p:nvSpPr>
        <p:spPr>
          <a:xfrm>
            <a:off x="6108192" y="982980"/>
            <a:ext cx="82296" cy="82296"/>
          </a:xfrm>
          <a:prstGeom prst="ellipse">
            <a:avLst/>
          </a:prstGeom>
          <a:solidFill>
            <a:srgbClr val="F87171"/>
          </a:solidFill>
          <a:ln w="12700">
            <a:solidFill>
              <a:srgbClr val="F87171"/>
            </a:solidFill>
            <a:prstDash val="solid"/>
          </a:ln>
        </p:spPr>
      </p:sp>
      <p:sp>
        <p:nvSpPr>
          <p:cNvPr id="9" name="Shape 7"/>
          <p:cNvSpPr/>
          <p:nvPr/>
        </p:nvSpPr>
        <p:spPr>
          <a:xfrm>
            <a:off x="6245352" y="982980"/>
            <a:ext cx="82296" cy="82296"/>
          </a:xfrm>
          <a:prstGeom prst="ellipse">
            <a:avLst/>
          </a:prstGeom>
          <a:solidFill>
            <a:srgbClr val="FBBF24"/>
          </a:solidFill>
          <a:ln w="12700">
            <a:solidFill>
              <a:srgbClr val="FBBF24"/>
            </a:solidFill>
            <a:prstDash val="solid"/>
          </a:ln>
        </p:spPr>
      </p:sp>
      <p:sp>
        <p:nvSpPr>
          <p:cNvPr id="10" name="Shape 8"/>
          <p:cNvSpPr/>
          <p:nvPr/>
        </p:nvSpPr>
        <p:spPr>
          <a:xfrm>
            <a:off x="6382512" y="982980"/>
            <a:ext cx="82296" cy="82296"/>
          </a:xfrm>
          <a:prstGeom prst="ellipse">
            <a:avLst/>
          </a:prstGeom>
          <a:solidFill>
            <a:srgbClr val="4ADE80"/>
          </a:solidFill>
          <a:ln w="12700">
            <a:solidFill>
              <a:srgbClr val="4ADE80"/>
            </a:solidFill>
            <a:prstDash val="solid"/>
          </a:ln>
        </p:spPr>
      </p:sp>
      <p:pic>
        <p:nvPicPr>
          <p:cNvPr id="11" name="Image 0" descr="img/dash.jpg">    </p:cNvPr>
          <p:cNvPicPr>
            <a:picLocks noChangeAspect="1"/>
          </p:cNvPicPr>
          <p:nvPr/>
        </p:nvPicPr>
        <p:blipFill>
          <a:blip r:embed="rId1"/>
          <a:stretch>
            <a:fillRect/>
          </a:stretch>
        </p:blipFill>
        <p:spPr>
          <a:xfrm>
            <a:off x="6035040" y="1133856"/>
            <a:ext cx="5577840" cy="3486150"/>
          </a:xfrm>
          <a:prstGeom prst="rect">
            <a:avLst/>
          </a:prstGeom>
        </p:spPr>
      </p:pic>
      <p:sp>
        <p:nvSpPr>
          <p:cNvPr id="12" name="Shape 9"/>
          <p:cNvSpPr/>
          <p:nvPr/>
        </p:nvSpPr>
        <p:spPr>
          <a:xfrm>
            <a:off x="5440680" y="3703320"/>
            <a:ext cx="3566160" cy="2436876"/>
          </a:xfrm>
          <a:prstGeom prst="roundRect">
            <a:avLst>
              <a:gd name="adj" fmla="val 3002"/>
            </a:avLst>
          </a:prstGeom>
          <a:solidFill>
            <a:srgbClr val="1E293B"/>
          </a:solidFill>
          <a:ln w="9525">
            <a:solidFill>
              <a:srgbClr val="334155"/>
            </a:solidFill>
            <a:prstDash val="solid"/>
          </a:ln>
          <a:effectLst>
            <a:outerShdw sx="100000" sy="100000" kx="0" ky="0" algn="bl" rotWithShape="0" blurRad="177800" dist="50800" dir="5400000">
              <a:srgbClr val="0F172A">
                <a:alpha val="16000"/>
              </a:srgbClr>
            </a:outerShdw>
          </a:effectLst>
        </p:spPr>
      </p:sp>
      <p:sp>
        <p:nvSpPr>
          <p:cNvPr id="13" name="Shape 10"/>
          <p:cNvSpPr/>
          <p:nvPr/>
        </p:nvSpPr>
        <p:spPr>
          <a:xfrm>
            <a:off x="5559552" y="3771900"/>
            <a:ext cx="82296" cy="82296"/>
          </a:xfrm>
          <a:prstGeom prst="ellipse">
            <a:avLst/>
          </a:prstGeom>
          <a:solidFill>
            <a:srgbClr val="F87171"/>
          </a:solidFill>
          <a:ln w="12700">
            <a:solidFill>
              <a:srgbClr val="F87171"/>
            </a:solidFill>
            <a:prstDash val="solid"/>
          </a:ln>
        </p:spPr>
      </p:sp>
      <p:sp>
        <p:nvSpPr>
          <p:cNvPr id="14" name="Shape 11"/>
          <p:cNvSpPr/>
          <p:nvPr/>
        </p:nvSpPr>
        <p:spPr>
          <a:xfrm>
            <a:off x="5696712" y="3771900"/>
            <a:ext cx="82296" cy="82296"/>
          </a:xfrm>
          <a:prstGeom prst="ellipse">
            <a:avLst/>
          </a:prstGeom>
          <a:solidFill>
            <a:srgbClr val="FBBF24"/>
          </a:solidFill>
          <a:ln w="12700">
            <a:solidFill>
              <a:srgbClr val="FBBF24"/>
            </a:solidFill>
            <a:prstDash val="solid"/>
          </a:ln>
        </p:spPr>
      </p:sp>
      <p:sp>
        <p:nvSpPr>
          <p:cNvPr id="15" name="Shape 12"/>
          <p:cNvSpPr/>
          <p:nvPr/>
        </p:nvSpPr>
        <p:spPr>
          <a:xfrm>
            <a:off x="5833872" y="3771900"/>
            <a:ext cx="82296" cy="82296"/>
          </a:xfrm>
          <a:prstGeom prst="ellipse">
            <a:avLst/>
          </a:prstGeom>
          <a:solidFill>
            <a:srgbClr val="4ADE80"/>
          </a:solidFill>
          <a:ln w="12700">
            <a:solidFill>
              <a:srgbClr val="4ADE80"/>
            </a:solidFill>
            <a:prstDash val="solid"/>
          </a:ln>
        </p:spPr>
      </p:sp>
      <p:pic>
        <p:nvPicPr>
          <p:cNvPr id="16" name="Image 1" descr="img/tech.jpg">    </p:cNvPr>
          <p:cNvPicPr>
            <a:picLocks noChangeAspect="1"/>
          </p:cNvPicPr>
          <p:nvPr/>
        </p:nvPicPr>
        <p:blipFill>
          <a:blip r:embed="rId2"/>
          <a:stretch>
            <a:fillRect/>
          </a:stretch>
        </p:blipFill>
        <p:spPr>
          <a:xfrm>
            <a:off x="5486400" y="3922776"/>
            <a:ext cx="3474720" cy="2171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Inter" pitchFamily="34" charset="0"/>
                <a:ea typeface="Inter" pitchFamily="34" charset="-122"/>
                <a:cs typeface="Inter" pitchFamily="34" charset="-120"/>
              </a:rPr>
              <a:t>01  ·  CONTEXTE</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0F172A"/>
                </a:solidFill>
                <a:latin typeface="Inter" pitchFamily="34" charset="0"/>
                <a:ea typeface="Inter" pitchFamily="34" charset="-122"/>
                <a:cs typeface="Inter" pitchFamily="34" charset="-120"/>
              </a:rPr>
              <a:t>Un processus fragmenté, sans visibilité</a:t>
            </a:r>
            <a:endParaRPr lang="en-US" sz="3400" dirty="0"/>
          </a:p>
        </p:txBody>
      </p:sp>
      <p:sp>
        <p:nvSpPr>
          <p:cNvPr id="4" name="Text 2"/>
          <p:cNvSpPr txBox="1"/>
          <p:nvPr/>
        </p:nvSpPr>
        <p:spPr>
          <a:xfrm>
            <a:off x="548640" y="1645920"/>
            <a:ext cx="3657600" cy="274320"/>
          </a:xfrm>
          <a:prstGeom prst="rect">
            <a:avLst/>
          </a:prstGeom>
          <a:noFill/>
          <a:ln/>
        </p:spPr>
        <p:txBody>
          <a:bodyPr wrap="square" lIns="0" tIns="0" rIns="0" bIns="0" rtlCol="0" anchor="t"/>
          <a:lstStyle/>
          <a:p>
            <a:pPr indent="0" marL="0">
              <a:buNone/>
            </a:pPr>
            <a:r>
              <a:rPr lang="en-US" sz="1200" b="1" spc="200" kern="0" dirty="0">
                <a:solidFill>
                  <a:srgbClr val="64748B"/>
                </a:solidFill>
                <a:latin typeface="Inter" pitchFamily="34" charset="0"/>
                <a:ea typeface="Inter" pitchFamily="34" charset="-122"/>
                <a:cs typeface="Inter" pitchFamily="34" charset="-120"/>
              </a:rPr>
              <a:t>AUJOURD’HUI</a:t>
            </a:r>
            <a:endParaRPr lang="en-US" sz="1200" dirty="0"/>
          </a:p>
        </p:txBody>
      </p:sp>
      <p:sp>
        <p:nvSpPr>
          <p:cNvPr id="5" name="Shape 3"/>
          <p:cNvSpPr/>
          <p:nvPr/>
        </p:nvSpPr>
        <p:spPr>
          <a:xfrm>
            <a:off x="548640" y="2057400"/>
            <a:ext cx="731520" cy="731520"/>
          </a:xfrm>
          <a:prstGeom prst="roundRect">
            <a:avLst>
              <a:gd name="adj" fmla="val 17500"/>
            </a:avLst>
          </a:prstGeom>
          <a:solidFill>
            <a:srgbClr val="FEE2E2"/>
          </a:solidFill>
          <a:ln w="12700">
            <a:solidFill>
              <a:srgbClr val="FEE2E2"/>
            </a:solidFill>
            <a:prstDash val="solid"/>
          </a:ln>
        </p:spPr>
      </p:sp>
      <p:pic>
        <p:nvPicPr>
          <p:cNvPr id="6" name="Image 0" descr="preencoded.png">    </p:cNvPr>
          <p:cNvPicPr>
            <a:picLocks noChangeAspect="1"/>
          </p:cNvPicPr>
          <p:nvPr/>
        </p:nvPicPr>
        <p:blipFill>
          <a:blip r:embed="rId1"/>
          <a:stretch>
            <a:fillRect/>
          </a:stretch>
        </p:blipFill>
        <p:spPr>
          <a:xfrm>
            <a:off x="738835" y="2247595"/>
            <a:ext cx="351130" cy="351130"/>
          </a:xfrm>
          <a:prstGeom prst="rect">
            <a:avLst/>
          </a:prstGeom>
        </p:spPr>
      </p:pic>
      <p:sp>
        <p:nvSpPr>
          <p:cNvPr id="7" name="Text 4"/>
          <p:cNvSpPr txBox="1"/>
          <p:nvPr/>
        </p:nvSpPr>
        <p:spPr>
          <a:xfrm>
            <a:off x="1508760" y="2075688"/>
            <a:ext cx="4480560" cy="86868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Appels téléphoniques</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Le besoin est signalé par appel, le technicien prévenu oralement.</a:t>
            </a:r>
            <a:endParaRPr lang="en-US" sz="1800" dirty="0"/>
          </a:p>
        </p:txBody>
      </p:sp>
      <p:sp>
        <p:nvSpPr>
          <p:cNvPr id="8" name="Shape 5"/>
          <p:cNvSpPr/>
          <p:nvPr/>
        </p:nvSpPr>
        <p:spPr>
          <a:xfrm>
            <a:off x="548640" y="3172968"/>
            <a:ext cx="731520" cy="731520"/>
          </a:xfrm>
          <a:prstGeom prst="roundRect">
            <a:avLst>
              <a:gd name="adj" fmla="val 17500"/>
            </a:avLst>
          </a:prstGeom>
          <a:solidFill>
            <a:srgbClr val="FEF3C7"/>
          </a:solidFill>
          <a:ln w="12700">
            <a:solidFill>
              <a:srgbClr val="FEF3C7"/>
            </a:solidFill>
            <a:prstDash val="solid"/>
          </a:ln>
        </p:spPr>
      </p:sp>
      <p:pic>
        <p:nvPicPr>
          <p:cNvPr id="9" name="Image 1" descr="preencoded.png">    </p:cNvPr>
          <p:cNvPicPr>
            <a:picLocks noChangeAspect="1"/>
          </p:cNvPicPr>
          <p:nvPr/>
        </p:nvPicPr>
        <p:blipFill>
          <a:blip r:embed="rId2"/>
          <a:stretch>
            <a:fillRect/>
          </a:stretch>
        </p:blipFill>
        <p:spPr>
          <a:xfrm>
            <a:off x="738835" y="3363163"/>
            <a:ext cx="351130" cy="351130"/>
          </a:xfrm>
          <a:prstGeom prst="rect">
            <a:avLst/>
          </a:prstGeom>
        </p:spPr>
      </p:pic>
      <p:sp>
        <p:nvSpPr>
          <p:cNvPr id="10" name="Text 6"/>
          <p:cNvSpPr txBox="1"/>
          <p:nvPr/>
        </p:nvSpPr>
        <p:spPr>
          <a:xfrm>
            <a:off x="1508760" y="3191256"/>
            <a:ext cx="4480560" cy="86868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Notes papier</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Comptes rendus manuscrits, historique peu fiable.</a:t>
            </a:r>
            <a:endParaRPr lang="en-US" sz="1800" dirty="0"/>
          </a:p>
        </p:txBody>
      </p:sp>
      <p:sp>
        <p:nvSpPr>
          <p:cNvPr id="11" name="Shape 7"/>
          <p:cNvSpPr/>
          <p:nvPr/>
        </p:nvSpPr>
        <p:spPr>
          <a:xfrm>
            <a:off x="548640" y="4288536"/>
            <a:ext cx="731520" cy="731520"/>
          </a:xfrm>
          <a:prstGeom prst="roundRect">
            <a:avLst>
              <a:gd name="adj" fmla="val 17500"/>
            </a:avLst>
          </a:prstGeom>
          <a:solidFill>
            <a:srgbClr val="DCFCE7"/>
          </a:solidFill>
          <a:ln w="12700">
            <a:solidFill>
              <a:srgbClr val="DCFCE7"/>
            </a:solidFill>
            <a:prstDash val="solid"/>
          </a:ln>
        </p:spPr>
      </p:sp>
      <p:pic>
        <p:nvPicPr>
          <p:cNvPr id="12" name="Image 2" descr="preencoded.png">    </p:cNvPr>
          <p:cNvPicPr>
            <a:picLocks noChangeAspect="1"/>
          </p:cNvPicPr>
          <p:nvPr/>
        </p:nvPicPr>
        <p:blipFill>
          <a:blip r:embed="rId3"/>
          <a:stretch>
            <a:fillRect/>
          </a:stretch>
        </p:blipFill>
        <p:spPr>
          <a:xfrm>
            <a:off x="738835" y="4478731"/>
            <a:ext cx="351130" cy="351130"/>
          </a:xfrm>
          <a:prstGeom prst="rect">
            <a:avLst/>
          </a:prstGeom>
        </p:spPr>
      </p:pic>
      <p:sp>
        <p:nvSpPr>
          <p:cNvPr id="13" name="Text 8"/>
          <p:cNvSpPr txBox="1"/>
          <p:nvPr/>
        </p:nvSpPr>
        <p:spPr>
          <a:xfrm>
            <a:off x="1508760" y="4306824"/>
            <a:ext cx="4480560" cy="86868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Fichiers Excel</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Suivi dispersé, sans vision des disponibilités.</a:t>
            </a:r>
            <a:endParaRPr lang="en-US" sz="1800" dirty="0"/>
          </a:p>
        </p:txBody>
      </p:sp>
      <p:sp>
        <p:nvSpPr>
          <p:cNvPr id="14" name="Shape 9"/>
          <p:cNvSpPr/>
          <p:nvPr/>
        </p:nvSpPr>
        <p:spPr>
          <a:xfrm>
            <a:off x="6355080" y="1645920"/>
            <a:ext cx="5285232" cy="3566160"/>
          </a:xfrm>
          <a:prstGeom prst="roundRect">
            <a:avLst>
              <a:gd name="adj" fmla="val 3077"/>
            </a:avLst>
          </a:prstGeom>
          <a:solidFill>
            <a:srgbClr val="0F172A"/>
          </a:solidFill>
          <a:ln w="12700">
            <a:solidFill>
              <a:srgbClr val="0F172A"/>
            </a:solidFill>
            <a:prstDash val="solid"/>
          </a:ln>
        </p:spPr>
      </p:sp>
      <p:sp>
        <p:nvSpPr>
          <p:cNvPr id="15" name="Text 10"/>
          <p:cNvSpPr txBox="1"/>
          <p:nvPr/>
        </p:nvSpPr>
        <p:spPr>
          <a:xfrm>
            <a:off x="6720840" y="1920240"/>
            <a:ext cx="3657600" cy="274320"/>
          </a:xfrm>
          <a:prstGeom prst="rect">
            <a:avLst/>
          </a:prstGeom>
          <a:noFill/>
          <a:ln/>
        </p:spPr>
        <p:txBody>
          <a:bodyPr wrap="square" lIns="0" tIns="0" rIns="0" bIns="0" rtlCol="0" anchor="t"/>
          <a:lstStyle/>
          <a:p>
            <a:pPr indent="0" marL="0">
              <a:buNone/>
            </a:pPr>
            <a:r>
              <a:rPr lang="en-US" sz="1200" b="1" spc="200" kern="0" dirty="0">
                <a:solidFill>
                  <a:srgbClr val="F59E0B"/>
                </a:solidFill>
                <a:latin typeface="Inter" pitchFamily="34" charset="0"/>
                <a:ea typeface="Inter" pitchFamily="34" charset="-122"/>
                <a:cs typeface="Inter" pitchFamily="34" charset="-120"/>
              </a:rPr>
              <a:t>CONSÉQUENCES</a:t>
            </a:r>
            <a:endParaRPr lang="en-US" sz="1200" dirty="0"/>
          </a:p>
        </p:txBody>
      </p:sp>
      <p:pic>
        <p:nvPicPr>
          <p:cNvPr id="16" name="Image 3" descr="preencoded.png">    </p:cNvPr>
          <p:cNvPicPr>
            <a:picLocks noChangeAspect="1"/>
          </p:cNvPicPr>
          <p:nvPr/>
        </p:nvPicPr>
        <p:blipFill>
          <a:blip r:embed="rId4"/>
          <a:stretch>
            <a:fillRect/>
          </a:stretch>
        </p:blipFill>
        <p:spPr>
          <a:xfrm>
            <a:off x="6720840" y="2423160"/>
            <a:ext cx="384048" cy="384048"/>
          </a:xfrm>
          <a:prstGeom prst="rect">
            <a:avLst/>
          </a:prstGeom>
        </p:spPr>
      </p:pic>
      <p:sp>
        <p:nvSpPr>
          <p:cNvPr id="17" name="Text 11"/>
          <p:cNvSpPr txBox="1"/>
          <p:nvPr/>
        </p:nvSpPr>
        <p:spPr>
          <a:xfrm>
            <a:off x="6720840" y="2926080"/>
            <a:ext cx="2194560" cy="731520"/>
          </a:xfrm>
          <a:prstGeom prst="rect">
            <a:avLst/>
          </a:prstGeom>
          <a:noFill/>
          <a:ln/>
        </p:spPr>
        <p:txBody>
          <a:bodyPr wrap="square" lIns="0" tIns="0" rIns="0" bIns="0" rtlCol="0" anchor="t"/>
          <a:lstStyle/>
          <a:p>
            <a:pPr indent="0" marL="0">
              <a:spcAft>
                <a:spcPts val="200"/>
              </a:spcAft>
              <a:buNone/>
            </a:pPr>
            <a:r>
              <a:rPr lang="en-US" sz="1600" b="1" dirty="0">
                <a:solidFill>
                  <a:srgbClr val="FFFFFF"/>
                </a:solidFill>
                <a:latin typeface="Inter" pitchFamily="34" charset="0"/>
                <a:ea typeface="Inter" pitchFamily="34" charset="-122"/>
                <a:cs typeface="Inter" pitchFamily="34" charset="-120"/>
              </a:rPr>
              <a:t>Suivi difficile</a:t>
            </a:r>
            <a:endParaRPr lang="en-US" sz="1600" dirty="0"/>
          </a:p>
          <a:p>
            <a:pPr indent="0" marL="0">
              <a:spcAft>
                <a:spcPts val="200"/>
              </a:spcAft>
              <a:buNone/>
            </a:pPr>
            <a:r>
              <a:rPr lang="en-US" sz="1200" dirty="0">
                <a:solidFill>
                  <a:srgbClr val="CBD5E1"/>
                </a:solidFill>
                <a:latin typeface="Inter" pitchFamily="34" charset="0"/>
                <a:ea typeface="Inter" pitchFamily="34" charset="-122"/>
                <a:cs typeface="Inter" pitchFamily="34" charset="-120"/>
              </a:rPr>
              <a:t>Avancement invisible</a:t>
            </a:r>
            <a:endParaRPr lang="en-US" sz="1600" dirty="0"/>
          </a:p>
        </p:txBody>
      </p:sp>
      <p:pic>
        <p:nvPicPr>
          <p:cNvPr id="18" name="Image 4" descr="preencoded.png">    </p:cNvPr>
          <p:cNvPicPr>
            <a:picLocks noChangeAspect="1"/>
          </p:cNvPicPr>
          <p:nvPr/>
        </p:nvPicPr>
        <p:blipFill>
          <a:blip r:embed="rId5"/>
          <a:stretch>
            <a:fillRect/>
          </a:stretch>
        </p:blipFill>
        <p:spPr>
          <a:xfrm>
            <a:off x="9098280" y="2423160"/>
            <a:ext cx="384048" cy="384048"/>
          </a:xfrm>
          <a:prstGeom prst="rect">
            <a:avLst/>
          </a:prstGeom>
        </p:spPr>
      </p:pic>
      <p:sp>
        <p:nvSpPr>
          <p:cNvPr id="19" name="Text 12"/>
          <p:cNvSpPr txBox="1"/>
          <p:nvPr/>
        </p:nvSpPr>
        <p:spPr>
          <a:xfrm>
            <a:off x="9098280" y="2926080"/>
            <a:ext cx="2194560" cy="731520"/>
          </a:xfrm>
          <a:prstGeom prst="rect">
            <a:avLst/>
          </a:prstGeom>
          <a:noFill/>
          <a:ln/>
        </p:spPr>
        <p:txBody>
          <a:bodyPr wrap="square" lIns="0" tIns="0" rIns="0" bIns="0" rtlCol="0" anchor="t"/>
          <a:lstStyle/>
          <a:p>
            <a:pPr indent="0" marL="0">
              <a:spcAft>
                <a:spcPts val="200"/>
              </a:spcAft>
              <a:buNone/>
            </a:pPr>
            <a:r>
              <a:rPr lang="en-US" sz="1600" b="1" dirty="0">
                <a:solidFill>
                  <a:srgbClr val="FFFFFF"/>
                </a:solidFill>
                <a:latin typeface="Inter" pitchFamily="34" charset="0"/>
                <a:ea typeface="Inter" pitchFamily="34" charset="-122"/>
                <a:cs typeface="Inter" pitchFamily="34" charset="-120"/>
              </a:rPr>
              <a:t>Informations perdues</a:t>
            </a:r>
            <a:endParaRPr lang="en-US" sz="1600" dirty="0"/>
          </a:p>
          <a:p>
            <a:pPr indent="0" marL="0">
              <a:spcAft>
                <a:spcPts val="200"/>
              </a:spcAft>
              <a:buNone/>
            </a:pPr>
            <a:r>
              <a:rPr lang="en-US" sz="1200" dirty="0">
                <a:solidFill>
                  <a:srgbClr val="CBD5E1"/>
                </a:solidFill>
                <a:latin typeface="Inter" pitchFamily="34" charset="0"/>
                <a:ea typeface="Inter" pitchFamily="34" charset="-122"/>
                <a:cs typeface="Inter" pitchFamily="34" charset="-120"/>
              </a:rPr>
              <a:t>Entre client, responsable et technicien</a:t>
            </a:r>
            <a:endParaRPr lang="en-US" sz="1600" dirty="0"/>
          </a:p>
        </p:txBody>
      </p:sp>
      <p:pic>
        <p:nvPicPr>
          <p:cNvPr id="20" name="Image 5" descr="preencoded.png">    </p:cNvPr>
          <p:cNvPicPr>
            <a:picLocks noChangeAspect="1"/>
          </p:cNvPicPr>
          <p:nvPr/>
        </p:nvPicPr>
        <p:blipFill>
          <a:blip r:embed="rId6"/>
          <a:stretch>
            <a:fillRect/>
          </a:stretch>
        </p:blipFill>
        <p:spPr>
          <a:xfrm>
            <a:off x="6720840" y="3749040"/>
            <a:ext cx="384048" cy="384048"/>
          </a:xfrm>
          <a:prstGeom prst="rect">
            <a:avLst/>
          </a:prstGeom>
        </p:spPr>
      </p:pic>
      <p:sp>
        <p:nvSpPr>
          <p:cNvPr id="21" name="Text 13"/>
          <p:cNvSpPr txBox="1"/>
          <p:nvPr/>
        </p:nvSpPr>
        <p:spPr>
          <a:xfrm>
            <a:off x="6720840" y="4251960"/>
            <a:ext cx="2194560" cy="731520"/>
          </a:xfrm>
          <a:prstGeom prst="rect">
            <a:avLst/>
          </a:prstGeom>
          <a:noFill/>
          <a:ln/>
        </p:spPr>
        <p:txBody>
          <a:bodyPr wrap="square" lIns="0" tIns="0" rIns="0" bIns="0" rtlCol="0" anchor="t"/>
          <a:lstStyle/>
          <a:p>
            <a:pPr indent="0" marL="0">
              <a:spcAft>
                <a:spcPts val="200"/>
              </a:spcAft>
              <a:buNone/>
            </a:pPr>
            <a:r>
              <a:rPr lang="en-US" sz="1600" b="1" dirty="0">
                <a:solidFill>
                  <a:srgbClr val="FFFFFF"/>
                </a:solidFill>
                <a:latin typeface="Inter" pitchFamily="34" charset="0"/>
                <a:ea typeface="Inter" pitchFamily="34" charset="-122"/>
                <a:cs typeface="Inter" pitchFamily="34" charset="-120"/>
              </a:rPr>
              <a:t>Rapports manuels</a:t>
            </a:r>
            <a:endParaRPr lang="en-US" sz="1600" dirty="0"/>
          </a:p>
          <a:p>
            <a:pPr indent="0" marL="0">
              <a:spcAft>
                <a:spcPts val="200"/>
              </a:spcAft>
              <a:buNone/>
            </a:pPr>
            <a:r>
              <a:rPr lang="en-US" sz="1200" dirty="0">
                <a:solidFill>
                  <a:srgbClr val="CBD5E1"/>
                </a:solidFill>
                <a:latin typeface="Inter" pitchFamily="34" charset="0"/>
                <a:ea typeface="Inter" pitchFamily="34" charset="-122"/>
                <a:cs typeface="Inter" pitchFamily="34" charset="-120"/>
              </a:rPr>
              <a:t>Longs et non standardisés</a:t>
            </a:r>
            <a:endParaRPr lang="en-US" sz="1600" dirty="0"/>
          </a:p>
        </p:txBody>
      </p:sp>
      <p:pic>
        <p:nvPicPr>
          <p:cNvPr id="22" name="Image 6" descr="preencoded.png">    </p:cNvPr>
          <p:cNvPicPr>
            <a:picLocks noChangeAspect="1"/>
          </p:cNvPicPr>
          <p:nvPr/>
        </p:nvPicPr>
        <p:blipFill>
          <a:blip r:embed="rId7"/>
          <a:stretch>
            <a:fillRect/>
          </a:stretch>
        </p:blipFill>
        <p:spPr>
          <a:xfrm>
            <a:off x="9098280" y="3749040"/>
            <a:ext cx="384048" cy="384048"/>
          </a:xfrm>
          <a:prstGeom prst="rect">
            <a:avLst/>
          </a:prstGeom>
        </p:spPr>
      </p:pic>
      <p:sp>
        <p:nvSpPr>
          <p:cNvPr id="23" name="Text 14"/>
          <p:cNvSpPr txBox="1"/>
          <p:nvPr/>
        </p:nvSpPr>
        <p:spPr>
          <a:xfrm>
            <a:off x="9098280" y="4251960"/>
            <a:ext cx="2194560" cy="731520"/>
          </a:xfrm>
          <a:prstGeom prst="rect">
            <a:avLst/>
          </a:prstGeom>
          <a:noFill/>
          <a:ln/>
        </p:spPr>
        <p:txBody>
          <a:bodyPr wrap="square" lIns="0" tIns="0" rIns="0" bIns="0" rtlCol="0" anchor="t"/>
          <a:lstStyle/>
          <a:p>
            <a:pPr indent="0" marL="0">
              <a:spcAft>
                <a:spcPts val="200"/>
              </a:spcAft>
              <a:buNone/>
            </a:pPr>
            <a:r>
              <a:rPr lang="en-US" sz="1600" b="1" dirty="0">
                <a:solidFill>
                  <a:srgbClr val="FFFFFF"/>
                </a:solidFill>
                <a:latin typeface="Inter" pitchFamily="34" charset="0"/>
                <a:ea typeface="Inter" pitchFamily="34" charset="-122"/>
                <a:cs typeface="Inter" pitchFamily="34" charset="-120"/>
              </a:rPr>
              <a:t>Aucun indicateur</a:t>
            </a:r>
            <a:endParaRPr lang="en-US" sz="1600" dirty="0"/>
          </a:p>
          <a:p>
            <a:pPr indent="0" marL="0">
              <a:spcAft>
                <a:spcPts val="200"/>
              </a:spcAft>
              <a:buNone/>
            </a:pPr>
            <a:r>
              <a:rPr lang="en-US" sz="1200" dirty="0">
                <a:solidFill>
                  <a:srgbClr val="CBD5E1"/>
                </a:solidFill>
                <a:latin typeface="Inter" pitchFamily="34" charset="0"/>
                <a:ea typeface="Inter" pitchFamily="34" charset="-122"/>
                <a:cs typeface="Inter" pitchFamily="34" charset="-120"/>
              </a:rPr>
              <a:t>Ni performance, ni satisfaction</a:t>
            </a:r>
            <a:endParaRPr lang="en-US" sz="1600" dirty="0"/>
          </a:p>
        </p:txBody>
      </p:sp>
      <p:sp>
        <p:nvSpPr>
          <p:cNvPr id="24" name="Shape 15"/>
          <p:cNvSpPr/>
          <p:nvPr/>
        </p:nvSpPr>
        <p:spPr>
          <a:xfrm>
            <a:off x="548640" y="5486400"/>
            <a:ext cx="11094415" cy="777240"/>
          </a:xfrm>
          <a:prstGeom prst="roundRect">
            <a:avLst>
              <a:gd name="adj" fmla="val 14118"/>
            </a:avLst>
          </a:prstGeom>
          <a:solidFill>
            <a:srgbClr val="EFF6FF"/>
          </a:solidFill>
          <a:ln w="12700">
            <a:solidFill>
              <a:srgbClr val="DBEAFE"/>
            </a:solidFill>
            <a:prstDash val="solid"/>
          </a:ln>
        </p:spPr>
      </p:sp>
      <p:pic>
        <p:nvPicPr>
          <p:cNvPr id="25" name="Image 7" descr="preencoded.png">    </p:cNvPr>
          <p:cNvPicPr>
            <a:picLocks noChangeAspect="1"/>
          </p:cNvPicPr>
          <p:nvPr/>
        </p:nvPicPr>
        <p:blipFill>
          <a:blip r:embed="rId8"/>
          <a:stretch>
            <a:fillRect/>
          </a:stretch>
        </p:blipFill>
        <p:spPr>
          <a:xfrm>
            <a:off x="822960" y="5682996"/>
            <a:ext cx="384048" cy="384048"/>
          </a:xfrm>
          <a:prstGeom prst="rect">
            <a:avLst/>
          </a:prstGeom>
        </p:spPr>
      </p:pic>
      <p:sp>
        <p:nvSpPr>
          <p:cNvPr id="26" name="Text 16"/>
          <p:cNvSpPr txBox="1"/>
          <p:nvPr/>
        </p:nvSpPr>
        <p:spPr>
          <a:xfrm>
            <a:off x="1417320" y="5486400"/>
            <a:ext cx="9997135" cy="777240"/>
          </a:xfrm>
          <a:prstGeom prst="rect">
            <a:avLst/>
          </a:prstGeom>
          <a:noFill/>
          <a:ln/>
        </p:spPr>
        <p:txBody>
          <a:bodyPr wrap="square" lIns="0" tIns="0" rIns="0" bIns="0" rtlCol="0" anchor="ctr"/>
          <a:lstStyle/>
          <a:p>
            <a:pPr indent="0" marL="0">
              <a:buNone/>
            </a:pPr>
            <a:r>
              <a:rPr lang="en-US" sz="2000" b="1" i="1" dirty="0">
                <a:solidFill>
                  <a:srgbClr val="1D4ED8"/>
                </a:solidFill>
                <a:latin typeface="Inter" pitchFamily="34" charset="0"/>
                <a:ea typeface="Inter" pitchFamily="34" charset="-122"/>
                <a:cs typeface="Inter" pitchFamily="34" charset="-120"/>
              </a:rPr>
              <a:t>Comment centraliser tout le cycle de vie d’une intervention dans un seul outil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Inter" pitchFamily="34" charset="0"/>
                <a:ea typeface="Inter" pitchFamily="34" charset="-122"/>
                <a:cs typeface="Inter" pitchFamily="34" charset="-120"/>
              </a:rPr>
              <a:t>02  ·  LA SOLUTION</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0F172A"/>
                </a:solidFill>
                <a:latin typeface="Inter" pitchFamily="34" charset="0"/>
                <a:ea typeface="Inter" pitchFamily="34" charset="-122"/>
                <a:cs typeface="Inter" pitchFamily="34" charset="-120"/>
              </a:rPr>
              <a:t>Une plateforme, quatre espaces</a:t>
            </a:r>
            <a:endParaRPr lang="en-US" sz="3400" dirty="0"/>
          </a:p>
        </p:txBody>
      </p:sp>
      <p:sp>
        <p:nvSpPr>
          <p:cNvPr id="4" name="Shape 2"/>
          <p:cNvSpPr/>
          <p:nvPr/>
        </p:nvSpPr>
        <p:spPr>
          <a:xfrm>
            <a:off x="548640" y="1645920"/>
            <a:ext cx="6035040" cy="3979926"/>
          </a:xfrm>
          <a:prstGeom prst="roundRect">
            <a:avLst>
              <a:gd name="adj" fmla="val 1838"/>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sp>
        <p:nvSpPr>
          <p:cNvPr id="5" name="Shape 3"/>
          <p:cNvSpPr/>
          <p:nvPr/>
        </p:nvSpPr>
        <p:spPr>
          <a:xfrm>
            <a:off x="667512" y="1714500"/>
            <a:ext cx="82296" cy="82296"/>
          </a:xfrm>
          <a:prstGeom prst="ellipse">
            <a:avLst/>
          </a:prstGeom>
          <a:solidFill>
            <a:srgbClr val="F87171"/>
          </a:solidFill>
          <a:ln w="12700">
            <a:solidFill>
              <a:srgbClr val="F87171"/>
            </a:solidFill>
            <a:prstDash val="solid"/>
          </a:ln>
        </p:spPr>
      </p:sp>
      <p:sp>
        <p:nvSpPr>
          <p:cNvPr id="6" name="Shape 4"/>
          <p:cNvSpPr/>
          <p:nvPr/>
        </p:nvSpPr>
        <p:spPr>
          <a:xfrm>
            <a:off x="804672" y="1714500"/>
            <a:ext cx="82296" cy="82296"/>
          </a:xfrm>
          <a:prstGeom prst="ellipse">
            <a:avLst/>
          </a:prstGeom>
          <a:solidFill>
            <a:srgbClr val="FBBF24"/>
          </a:solidFill>
          <a:ln w="12700">
            <a:solidFill>
              <a:srgbClr val="FBBF24"/>
            </a:solidFill>
            <a:prstDash val="solid"/>
          </a:ln>
        </p:spPr>
      </p:sp>
      <p:sp>
        <p:nvSpPr>
          <p:cNvPr id="7" name="Shape 5"/>
          <p:cNvSpPr/>
          <p:nvPr/>
        </p:nvSpPr>
        <p:spPr>
          <a:xfrm>
            <a:off x="941832" y="1714500"/>
            <a:ext cx="82296" cy="82296"/>
          </a:xfrm>
          <a:prstGeom prst="ellipse">
            <a:avLst/>
          </a:prstGeom>
          <a:solidFill>
            <a:srgbClr val="4ADE80"/>
          </a:solidFill>
          <a:ln w="12700">
            <a:solidFill>
              <a:srgbClr val="4ADE80"/>
            </a:solidFill>
            <a:prstDash val="solid"/>
          </a:ln>
        </p:spPr>
      </p:sp>
      <p:pic>
        <p:nvPicPr>
          <p:cNvPr id="8" name="Image 0" descr="img/selection.jpg">    </p:cNvPr>
          <p:cNvPicPr>
            <a:picLocks noChangeAspect="1"/>
          </p:cNvPicPr>
          <p:nvPr/>
        </p:nvPicPr>
        <p:blipFill>
          <a:blip r:embed="rId1"/>
          <a:stretch>
            <a:fillRect/>
          </a:stretch>
        </p:blipFill>
        <p:spPr>
          <a:xfrm>
            <a:off x="594360" y="1865376"/>
            <a:ext cx="5943600" cy="3714750"/>
          </a:xfrm>
          <a:prstGeom prst="rect">
            <a:avLst/>
          </a:prstGeom>
        </p:spPr>
      </p:pic>
      <p:sp>
        <p:nvSpPr>
          <p:cNvPr id="9" name="Text 6"/>
          <p:cNvSpPr txBox="1"/>
          <p:nvPr/>
        </p:nvSpPr>
        <p:spPr>
          <a:xfrm>
            <a:off x="548640" y="5760720"/>
            <a:ext cx="6035040" cy="365760"/>
          </a:xfrm>
          <a:prstGeom prst="rect">
            <a:avLst/>
          </a:prstGeom>
          <a:noFill/>
          <a:ln/>
        </p:spPr>
        <p:txBody>
          <a:bodyPr wrap="square" lIns="0" tIns="0" rIns="0" bIns="0" rtlCol="0" anchor="t"/>
          <a:lstStyle/>
          <a:p>
            <a:pPr indent="0" marL="0">
              <a:buNone/>
            </a:pPr>
            <a:r>
              <a:rPr lang="en-US" sz="1300" i="1" dirty="0">
                <a:solidFill>
                  <a:srgbClr val="64748B"/>
                </a:solidFill>
                <a:latin typeface="Inter" pitchFamily="34" charset="0"/>
                <a:ea typeface="Inter" pitchFamily="34" charset="-122"/>
                <a:cs typeface="Inter" pitchFamily="34" charset="-120"/>
              </a:rPr>
              <a:t>Après la connexion, chacun choisit l’espace autorisé par son rôle.</a:t>
            </a:r>
            <a:endParaRPr lang="en-US" sz="1300" dirty="0"/>
          </a:p>
        </p:txBody>
      </p:sp>
      <p:sp>
        <p:nvSpPr>
          <p:cNvPr id="10" name="Shape 7"/>
          <p:cNvSpPr/>
          <p:nvPr/>
        </p:nvSpPr>
        <p:spPr>
          <a:xfrm>
            <a:off x="6995160" y="1737360"/>
            <a:ext cx="685800" cy="685800"/>
          </a:xfrm>
          <a:prstGeom prst="roundRect">
            <a:avLst>
              <a:gd name="adj" fmla="val 18667"/>
            </a:avLst>
          </a:prstGeom>
          <a:solidFill>
            <a:srgbClr val="DBEAFE"/>
          </a:solidFill>
          <a:ln w="12700">
            <a:solidFill>
              <a:srgbClr val="DBEAFE"/>
            </a:solidFill>
            <a:prstDash val="solid"/>
          </a:ln>
        </p:spPr>
      </p:sp>
      <p:pic>
        <p:nvPicPr>
          <p:cNvPr id="11" name="Image 1" descr="preencoded.png">    </p:cNvPr>
          <p:cNvPicPr>
            <a:picLocks noChangeAspect="1"/>
          </p:cNvPicPr>
          <p:nvPr/>
        </p:nvPicPr>
        <p:blipFill>
          <a:blip r:embed="rId2"/>
          <a:stretch>
            <a:fillRect/>
          </a:stretch>
        </p:blipFill>
        <p:spPr>
          <a:xfrm>
            <a:off x="7173468" y="1915668"/>
            <a:ext cx="329184" cy="329184"/>
          </a:xfrm>
          <a:prstGeom prst="rect">
            <a:avLst/>
          </a:prstGeom>
        </p:spPr>
      </p:pic>
      <p:sp>
        <p:nvSpPr>
          <p:cNvPr id="12" name="Text 8"/>
          <p:cNvSpPr txBox="1"/>
          <p:nvPr/>
        </p:nvSpPr>
        <p:spPr>
          <a:xfrm>
            <a:off x="7909560" y="1737360"/>
            <a:ext cx="3730752" cy="91440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Client</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Déclare une panne, suit sa demande et évalue le service.</a:t>
            </a:r>
            <a:endParaRPr lang="en-US" sz="1800" dirty="0"/>
          </a:p>
        </p:txBody>
      </p:sp>
      <p:sp>
        <p:nvSpPr>
          <p:cNvPr id="13" name="Shape 9"/>
          <p:cNvSpPr/>
          <p:nvPr/>
        </p:nvSpPr>
        <p:spPr>
          <a:xfrm>
            <a:off x="6995160" y="2816352"/>
            <a:ext cx="685800" cy="685800"/>
          </a:xfrm>
          <a:prstGeom prst="roundRect">
            <a:avLst>
              <a:gd name="adj" fmla="val 18667"/>
            </a:avLst>
          </a:prstGeom>
          <a:solidFill>
            <a:srgbClr val="FEF3C7"/>
          </a:solidFill>
          <a:ln w="12700">
            <a:solidFill>
              <a:srgbClr val="FEF3C7"/>
            </a:solidFill>
            <a:prstDash val="solid"/>
          </a:ln>
        </p:spPr>
      </p:sp>
      <p:pic>
        <p:nvPicPr>
          <p:cNvPr id="14" name="Image 2" descr="preencoded.png">    </p:cNvPr>
          <p:cNvPicPr>
            <a:picLocks noChangeAspect="1"/>
          </p:cNvPicPr>
          <p:nvPr/>
        </p:nvPicPr>
        <p:blipFill>
          <a:blip r:embed="rId3"/>
          <a:stretch>
            <a:fillRect/>
          </a:stretch>
        </p:blipFill>
        <p:spPr>
          <a:xfrm>
            <a:off x="7173468" y="2994660"/>
            <a:ext cx="329184" cy="329184"/>
          </a:xfrm>
          <a:prstGeom prst="rect">
            <a:avLst/>
          </a:prstGeom>
        </p:spPr>
      </p:pic>
      <p:sp>
        <p:nvSpPr>
          <p:cNvPr id="15" name="Text 10"/>
          <p:cNvSpPr txBox="1"/>
          <p:nvPr/>
        </p:nvSpPr>
        <p:spPr>
          <a:xfrm>
            <a:off x="7909560" y="2816352"/>
            <a:ext cx="3730752" cy="91440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Responsable maintenance</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Planifie, affecte les techniciens et pilote l’activité.</a:t>
            </a:r>
            <a:endParaRPr lang="en-US" sz="1800" dirty="0"/>
          </a:p>
        </p:txBody>
      </p:sp>
      <p:sp>
        <p:nvSpPr>
          <p:cNvPr id="16" name="Shape 11"/>
          <p:cNvSpPr/>
          <p:nvPr/>
        </p:nvSpPr>
        <p:spPr>
          <a:xfrm>
            <a:off x="6995160" y="3895344"/>
            <a:ext cx="685800" cy="685800"/>
          </a:xfrm>
          <a:prstGeom prst="roundRect">
            <a:avLst>
              <a:gd name="adj" fmla="val 18667"/>
            </a:avLst>
          </a:prstGeom>
          <a:solidFill>
            <a:srgbClr val="DCFCE7"/>
          </a:solidFill>
          <a:ln w="12700">
            <a:solidFill>
              <a:srgbClr val="DCFCE7"/>
            </a:solidFill>
            <a:prstDash val="solid"/>
          </a:ln>
        </p:spPr>
      </p:sp>
      <p:pic>
        <p:nvPicPr>
          <p:cNvPr id="17" name="Image 3" descr="preencoded.png">    </p:cNvPr>
          <p:cNvPicPr>
            <a:picLocks noChangeAspect="1"/>
          </p:cNvPicPr>
          <p:nvPr/>
        </p:nvPicPr>
        <p:blipFill>
          <a:blip r:embed="rId4"/>
          <a:stretch>
            <a:fillRect/>
          </a:stretch>
        </p:blipFill>
        <p:spPr>
          <a:xfrm>
            <a:off x="7173468" y="4073652"/>
            <a:ext cx="329184" cy="329184"/>
          </a:xfrm>
          <a:prstGeom prst="rect">
            <a:avLst/>
          </a:prstGeom>
        </p:spPr>
      </p:pic>
      <p:sp>
        <p:nvSpPr>
          <p:cNvPr id="18" name="Text 12"/>
          <p:cNvSpPr txBox="1"/>
          <p:nvPr/>
        </p:nvSpPr>
        <p:spPr>
          <a:xfrm>
            <a:off x="7909560" y="3895344"/>
            <a:ext cx="3730752" cy="91440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Technicien</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Intervient, partage sa position et documente son travail.</a:t>
            </a:r>
            <a:endParaRPr lang="en-US" sz="1800" dirty="0"/>
          </a:p>
        </p:txBody>
      </p:sp>
      <p:sp>
        <p:nvSpPr>
          <p:cNvPr id="19" name="Shape 13"/>
          <p:cNvSpPr/>
          <p:nvPr/>
        </p:nvSpPr>
        <p:spPr>
          <a:xfrm>
            <a:off x="6995160" y="4974336"/>
            <a:ext cx="685800" cy="685800"/>
          </a:xfrm>
          <a:prstGeom prst="roundRect">
            <a:avLst>
              <a:gd name="adj" fmla="val 18667"/>
            </a:avLst>
          </a:prstGeom>
          <a:solidFill>
            <a:srgbClr val="FEE2E2"/>
          </a:solidFill>
          <a:ln w="12700">
            <a:solidFill>
              <a:srgbClr val="FEE2E2"/>
            </a:solidFill>
            <a:prstDash val="solid"/>
          </a:ln>
        </p:spPr>
      </p:sp>
      <p:pic>
        <p:nvPicPr>
          <p:cNvPr id="20" name="Image 4" descr="preencoded.png">    </p:cNvPr>
          <p:cNvPicPr>
            <a:picLocks noChangeAspect="1"/>
          </p:cNvPicPr>
          <p:nvPr/>
        </p:nvPicPr>
        <p:blipFill>
          <a:blip r:embed="rId5"/>
          <a:stretch>
            <a:fillRect/>
          </a:stretch>
        </p:blipFill>
        <p:spPr>
          <a:xfrm>
            <a:off x="7173468" y="5152644"/>
            <a:ext cx="329184" cy="329184"/>
          </a:xfrm>
          <a:prstGeom prst="rect">
            <a:avLst/>
          </a:prstGeom>
        </p:spPr>
      </p:pic>
      <p:sp>
        <p:nvSpPr>
          <p:cNvPr id="21" name="Text 14"/>
          <p:cNvSpPr txBox="1"/>
          <p:nvPr/>
        </p:nvSpPr>
        <p:spPr>
          <a:xfrm>
            <a:off x="7909560" y="4974336"/>
            <a:ext cx="3730752" cy="91440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Administrateur</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Gère les comptes utilisateurs et les accès.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Inter" pitchFamily="34" charset="0"/>
                <a:ea typeface="Inter" pitchFamily="34" charset="-122"/>
                <a:cs typeface="Inter" pitchFamily="34" charset="-120"/>
              </a:rPr>
              <a:t>03  ·  LA MÉTHODE</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0F172A"/>
                </a:solidFill>
                <a:latin typeface="Inter" pitchFamily="34" charset="0"/>
                <a:ea typeface="Inter" pitchFamily="34" charset="-122"/>
                <a:cs typeface="Inter" pitchFamily="34" charset="-120"/>
              </a:rPr>
              <a:t>Scrum : 8 sprints d’une semaine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600" dirty="0">
                <a:solidFill>
                  <a:srgbClr val="475569"/>
                </a:solidFill>
                <a:latin typeface="Inter" pitchFamily="34" charset="0"/>
                <a:ea typeface="Inter" pitchFamily="34" charset="-122"/>
                <a:cs typeface="Inter" pitchFamily="34" charset="-120"/>
              </a:rPr>
              <a:t>Un incrément testable à la fin de chaque sprint, ajusté selon les retours de l’encadrante.</a:t>
            </a:r>
            <a:endParaRPr lang="en-US" sz="1600" dirty="0"/>
          </a:p>
        </p:txBody>
      </p:sp>
      <p:sp>
        <p:nvSpPr>
          <p:cNvPr id="5" name="Shape 3"/>
          <p:cNvSpPr/>
          <p:nvPr/>
        </p:nvSpPr>
        <p:spPr>
          <a:xfrm>
            <a:off x="1242041" y="2788920"/>
            <a:ext cx="9707613" cy="0"/>
          </a:xfrm>
          <a:prstGeom prst="line">
            <a:avLst/>
          </a:prstGeom>
          <a:noFill/>
          <a:ln w="50800">
            <a:solidFill>
              <a:srgbClr val="DBEAFE"/>
            </a:solidFill>
            <a:prstDash val="solid"/>
          </a:ln>
        </p:spPr>
      </p:sp>
      <p:sp>
        <p:nvSpPr>
          <p:cNvPr id="6" name="Shape 4"/>
          <p:cNvSpPr/>
          <p:nvPr/>
        </p:nvSpPr>
        <p:spPr>
          <a:xfrm>
            <a:off x="912857" y="2459736"/>
            <a:ext cx="658368" cy="658368"/>
          </a:xfrm>
          <a:prstGeom prst="ellipse">
            <a:avLst/>
          </a:prstGeom>
          <a:solidFill>
            <a:srgbClr val="2563EB"/>
          </a:solidFill>
          <a:ln w="38100">
            <a:solidFill>
              <a:srgbClr val="FFFFFF"/>
            </a:solidFill>
            <a:prstDash val="solid"/>
          </a:ln>
        </p:spPr>
      </p:sp>
      <p:sp>
        <p:nvSpPr>
          <p:cNvPr id="7" name="Text 5"/>
          <p:cNvSpPr txBox="1"/>
          <p:nvPr/>
        </p:nvSpPr>
        <p:spPr>
          <a:xfrm>
            <a:off x="912857" y="245973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S1</a:t>
            </a:r>
            <a:endParaRPr lang="en-US" sz="1600" dirty="0"/>
          </a:p>
        </p:txBody>
      </p:sp>
      <p:sp>
        <p:nvSpPr>
          <p:cNvPr id="8" name="Text 6"/>
          <p:cNvSpPr txBox="1"/>
          <p:nvPr/>
        </p:nvSpPr>
        <p:spPr>
          <a:xfrm>
            <a:off x="603504" y="3291840"/>
            <a:ext cx="1277074" cy="777240"/>
          </a:xfrm>
          <a:prstGeom prst="rect">
            <a:avLst/>
          </a:prstGeom>
          <a:noFill/>
          <a:ln/>
        </p:spPr>
        <p:txBody>
          <a:bodyPr wrap="square" lIns="0" tIns="0" rIns="0" bIns="0" rtlCol="0" anchor="t"/>
          <a:lstStyle/>
          <a:p>
            <a:pPr algn="ctr" indent="0" marL="0">
              <a:buNone/>
            </a:pPr>
            <a:r>
              <a:rPr lang="en-US" sz="1300" b="1" dirty="0">
                <a:solidFill>
                  <a:srgbClr val="0F172A"/>
                </a:solidFill>
                <a:latin typeface="Inter" pitchFamily="34" charset="0"/>
                <a:ea typeface="Inter" pitchFamily="34" charset="-122"/>
                <a:cs typeface="Inter" pitchFamily="34" charset="-120"/>
              </a:rPr>
              <a:t>Conception &amp; mise en place</a:t>
            </a:r>
            <a:endParaRPr lang="en-US" sz="1300" dirty="0"/>
          </a:p>
        </p:txBody>
      </p:sp>
      <p:sp>
        <p:nvSpPr>
          <p:cNvPr id="9" name="Shape 7"/>
          <p:cNvSpPr/>
          <p:nvPr/>
        </p:nvSpPr>
        <p:spPr>
          <a:xfrm>
            <a:off x="2299659" y="2459736"/>
            <a:ext cx="658368" cy="658368"/>
          </a:xfrm>
          <a:prstGeom prst="ellipse">
            <a:avLst/>
          </a:prstGeom>
          <a:solidFill>
            <a:srgbClr val="2563EB"/>
          </a:solidFill>
          <a:ln w="38100">
            <a:solidFill>
              <a:srgbClr val="FFFFFF"/>
            </a:solidFill>
            <a:prstDash val="solid"/>
          </a:ln>
        </p:spPr>
      </p:sp>
      <p:sp>
        <p:nvSpPr>
          <p:cNvPr id="10" name="Text 8"/>
          <p:cNvSpPr txBox="1"/>
          <p:nvPr/>
        </p:nvSpPr>
        <p:spPr>
          <a:xfrm>
            <a:off x="2299659" y="245973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S2</a:t>
            </a:r>
            <a:endParaRPr lang="en-US" sz="1600" dirty="0"/>
          </a:p>
        </p:txBody>
      </p:sp>
      <p:sp>
        <p:nvSpPr>
          <p:cNvPr id="11" name="Text 9"/>
          <p:cNvSpPr txBox="1"/>
          <p:nvPr/>
        </p:nvSpPr>
        <p:spPr>
          <a:xfrm>
            <a:off x="1990306" y="3291840"/>
            <a:ext cx="1277074" cy="777240"/>
          </a:xfrm>
          <a:prstGeom prst="rect">
            <a:avLst/>
          </a:prstGeom>
          <a:noFill/>
          <a:ln/>
        </p:spPr>
        <p:txBody>
          <a:bodyPr wrap="square" lIns="0" tIns="0" rIns="0" bIns="0" rtlCol="0" anchor="t"/>
          <a:lstStyle/>
          <a:p>
            <a:pPr algn="ctr" indent="0" marL="0">
              <a:buNone/>
            </a:pPr>
            <a:r>
              <a:rPr lang="en-US" sz="1300" b="1" dirty="0">
                <a:solidFill>
                  <a:srgbClr val="0F172A"/>
                </a:solidFill>
                <a:latin typeface="Inter" pitchFamily="34" charset="0"/>
                <a:ea typeface="Inter" pitchFamily="34" charset="-122"/>
                <a:cs typeface="Inter" pitchFamily="34" charset="-120"/>
              </a:rPr>
              <a:t>Comptes &amp; rôles</a:t>
            </a:r>
            <a:endParaRPr lang="en-US" sz="1300" dirty="0"/>
          </a:p>
        </p:txBody>
      </p:sp>
      <p:sp>
        <p:nvSpPr>
          <p:cNvPr id="12" name="Shape 10"/>
          <p:cNvSpPr/>
          <p:nvPr/>
        </p:nvSpPr>
        <p:spPr>
          <a:xfrm>
            <a:off x="3686461" y="2459736"/>
            <a:ext cx="658368" cy="658368"/>
          </a:xfrm>
          <a:prstGeom prst="ellipse">
            <a:avLst/>
          </a:prstGeom>
          <a:solidFill>
            <a:srgbClr val="2563EB"/>
          </a:solidFill>
          <a:ln w="38100">
            <a:solidFill>
              <a:srgbClr val="FFFFFF"/>
            </a:solidFill>
            <a:prstDash val="solid"/>
          </a:ln>
        </p:spPr>
      </p:sp>
      <p:sp>
        <p:nvSpPr>
          <p:cNvPr id="13" name="Text 11"/>
          <p:cNvSpPr txBox="1"/>
          <p:nvPr/>
        </p:nvSpPr>
        <p:spPr>
          <a:xfrm>
            <a:off x="3686461" y="245973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S3</a:t>
            </a:r>
            <a:endParaRPr lang="en-US" sz="1600" dirty="0"/>
          </a:p>
        </p:txBody>
      </p:sp>
      <p:sp>
        <p:nvSpPr>
          <p:cNvPr id="14" name="Text 12"/>
          <p:cNvSpPr txBox="1"/>
          <p:nvPr/>
        </p:nvSpPr>
        <p:spPr>
          <a:xfrm>
            <a:off x="3377108" y="3291840"/>
            <a:ext cx="1277074" cy="777240"/>
          </a:xfrm>
          <a:prstGeom prst="rect">
            <a:avLst/>
          </a:prstGeom>
          <a:noFill/>
          <a:ln/>
        </p:spPr>
        <p:txBody>
          <a:bodyPr wrap="square" lIns="0" tIns="0" rIns="0" bIns="0" rtlCol="0" anchor="t"/>
          <a:lstStyle/>
          <a:p>
            <a:pPr algn="ctr" indent="0" marL="0">
              <a:buNone/>
            </a:pPr>
            <a:r>
              <a:rPr lang="en-US" sz="1300" b="1" dirty="0">
                <a:solidFill>
                  <a:srgbClr val="0F172A"/>
                </a:solidFill>
                <a:latin typeface="Inter" pitchFamily="34" charset="0"/>
                <a:ea typeface="Inter" pitchFamily="34" charset="-122"/>
                <a:cs typeface="Inter" pitchFamily="34" charset="-120"/>
              </a:rPr>
              <a:t>Clients &amp; équipements</a:t>
            </a:r>
            <a:endParaRPr lang="en-US" sz="1300" dirty="0"/>
          </a:p>
        </p:txBody>
      </p:sp>
      <p:sp>
        <p:nvSpPr>
          <p:cNvPr id="15" name="Shape 13"/>
          <p:cNvSpPr/>
          <p:nvPr/>
        </p:nvSpPr>
        <p:spPr>
          <a:xfrm>
            <a:off x="5073263" y="2459736"/>
            <a:ext cx="658368" cy="658368"/>
          </a:xfrm>
          <a:prstGeom prst="ellipse">
            <a:avLst/>
          </a:prstGeom>
          <a:solidFill>
            <a:srgbClr val="2563EB"/>
          </a:solidFill>
          <a:ln w="38100">
            <a:solidFill>
              <a:srgbClr val="FFFFFF"/>
            </a:solidFill>
            <a:prstDash val="solid"/>
          </a:ln>
        </p:spPr>
      </p:sp>
      <p:sp>
        <p:nvSpPr>
          <p:cNvPr id="16" name="Text 14"/>
          <p:cNvSpPr txBox="1"/>
          <p:nvPr/>
        </p:nvSpPr>
        <p:spPr>
          <a:xfrm>
            <a:off x="5073263" y="245973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S4</a:t>
            </a:r>
            <a:endParaRPr lang="en-US" sz="1600" dirty="0"/>
          </a:p>
        </p:txBody>
      </p:sp>
      <p:sp>
        <p:nvSpPr>
          <p:cNvPr id="17" name="Text 15"/>
          <p:cNvSpPr txBox="1"/>
          <p:nvPr/>
        </p:nvSpPr>
        <p:spPr>
          <a:xfrm>
            <a:off x="4763910" y="3291840"/>
            <a:ext cx="1277074" cy="777240"/>
          </a:xfrm>
          <a:prstGeom prst="rect">
            <a:avLst/>
          </a:prstGeom>
          <a:noFill/>
          <a:ln/>
        </p:spPr>
        <p:txBody>
          <a:bodyPr wrap="square" lIns="0" tIns="0" rIns="0" bIns="0" rtlCol="0" anchor="t"/>
          <a:lstStyle/>
          <a:p>
            <a:pPr algn="ctr" indent="0" marL="0">
              <a:buNone/>
            </a:pPr>
            <a:r>
              <a:rPr lang="en-US" sz="1300" b="1" dirty="0">
                <a:solidFill>
                  <a:srgbClr val="0F172A"/>
                </a:solidFill>
                <a:latin typeface="Inter" pitchFamily="34" charset="0"/>
                <a:ea typeface="Inter" pitchFamily="34" charset="-122"/>
                <a:cs typeface="Inter" pitchFamily="34" charset="-120"/>
              </a:rPr>
              <a:t>Demandes &amp; affectation</a:t>
            </a:r>
            <a:endParaRPr lang="en-US" sz="1300" dirty="0"/>
          </a:p>
        </p:txBody>
      </p:sp>
      <p:sp>
        <p:nvSpPr>
          <p:cNvPr id="18" name="Shape 16"/>
          <p:cNvSpPr/>
          <p:nvPr/>
        </p:nvSpPr>
        <p:spPr>
          <a:xfrm>
            <a:off x="6460065" y="2459736"/>
            <a:ext cx="658368" cy="658368"/>
          </a:xfrm>
          <a:prstGeom prst="ellipse">
            <a:avLst/>
          </a:prstGeom>
          <a:solidFill>
            <a:srgbClr val="2563EB"/>
          </a:solidFill>
          <a:ln w="38100">
            <a:solidFill>
              <a:srgbClr val="FFFFFF"/>
            </a:solidFill>
            <a:prstDash val="solid"/>
          </a:ln>
        </p:spPr>
      </p:sp>
      <p:sp>
        <p:nvSpPr>
          <p:cNvPr id="19" name="Text 17"/>
          <p:cNvSpPr txBox="1"/>
          <p:nvPr/>
        </p:nvSpPr>
        <p:spPr>
          <a:xfrm>
            <a:off x="6460065" y="245973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S5</a:t>
            </a:r>
            <a:endParaRPr lang="en-US" sz="1600" dirty="0"/>
          </a:p>
        </p:txBody>
      </p:sp>
      <p:sp>
        <p:nvSpPr>
          <p:cNvPr id="20" name="Text 18"/>
          <p:cNvSpPr txBox="1"/>
          <p:nvPr/>
        </p:nvSpPr>
        <p:spPr>
          <a:xfrm>
            <a:off x="6150712" y="3291840"/>
            <a:ext cx="1277074" cy="777240"/>
          </a:xfrm>
          <a:prstGeom prst="rect">
            <a:avLst/>
          </a:prstGeom>
          <a:noFill/>
          <a:ln/>
        </p:spPr>
        <p:txBody>
          <a:bodyPr wrap="square" lIns="0" tIns="0" rIns="0" bIns="0" rtlCol="0" anchor="t"/>
          <a:lstStyle/>
          <a:p>
            <a:pPr algn="ctr" indent="0" marL="0">
              <a:buNone/>
            </a:pPr>
            <a:r>
              <a:rPr lang="en-US" sz="1300" b="1" dirty="0">
                <a:solidFill>
                  <a:srgbClr val="0F172A"/>
                </a:solidFill>
                <a:latin typeface="Inter" pitchFamily="34" charset="0"/>
                <a:ea typeface="Inter" pitchFamily="34" charset="-122"/>
                <a:cs typeface="Inter" pitchFamily="34" charset="-120"/>
              </a:rPr>
              <a:t>Planning &amp; statuts</a:t>
            </a:r>
            <a:endParaRPr lang="en-US" sz="1300" dirty="0"/>
          </a:p>
        </p:txBody>
      </p:sp>
      <p:sp>
        <p:nvSpPr>
          <p:cNvPr id="21" name="Shape 19"/>
          <p:cNvSpPr/>
          <p:nvPr/>
        </p:nvSpPr>
        <p:spPr>
          <a:xfrm>
            <a:off x="7846866" y="2459736"/>
            <a:ext cx="658368" cy="658368"/>
          </a:xfrm>
          <a:prstGeom prst="ellipse">
            <a:avLst/>
          </a:prstGeom>
          <a:solidFill>
            <a:srgbClr val="2563EB"/>
          </a:solidFill>
          <a:ln w="38100">
            <a:solidFill>
              <a:srgbClr val="FFFFFF"/>
            </a:solidFill>
            <a:prstDash val="solid"/>
          </a:ln>
        </p:spPr>
      </p:sp>
      <p:sp>
        <p:nvSpPr>
          <p:cNvPr id="22" name="Text 20"/>
          <p:cNvSpPr txBox="1"/>
          <p:nvPr/>
        </p:nvSpPr>
        <p:spPr>
          <a:xfrm>
            <a:off x="7846866" y="245973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S6</a:t>
            </a:r>
            <a:endParaRPr lang="en-US" sz="1600" dirty="0"/>
          </a:p>
        </p:txBody>
      </p:sp>
      <p:sp>
        <p:nvSpPr>
          <p:cNvPr id="23" name="Text 21"/>
          <p:cNvSpPr txBox="1"/>
          <p:nvPr/>
        </p:nvSpPr>
        <p:spPr>
          <a:xfrm>
            <a:off x="7537514" y="3291840"/>
            <a:ext cx="1277074" cy="777240"/>
          </a:xfrm>
          <a:prstGeom prst="rect">
            <a:avLst/>
          </a:prstGeom>
          <a:noFill/>
          <a:ln/>
        </p:spPr>
        <p:txBody>
          <a:bodyPr wrap="square" lIns="0" tIns="0" rIns="0" bIns="0" rtlCol="0" anchor="t"/>
          <a:lstStyle/>
          <a:p>
            <a:pPr algn="ctr" indent="0" marL="0">
              <a:buNone/>
            </a:pPr>
            <a:r>
              <a:rPr lang="en-US" sz="1300" b="1" dirty="0">
                <a:solidFill>
                  <a:srgbClr val="0F172A"/>
                </a:solidFill>
                <a:latin typeface="Inter" pitchFamily="34" charset="0"/>
                <a:ea typeface="Inter" pitchFamily="34" charset="-122"/>
                <a:cs typeface="Inter" pitchFamily="34" charset="-120"/>
              </a:rPr>
              <a:t>Photos, PDF &amp; évaluation</a:t>
            </a:r>
            <a:endParaRPr lang="en-US" sz="1300" dirty="0"/>
          </a:p>
        </p:txBody>
      </p:sp>
      <p:sp>
        <p:nvSpPr>
          <p:cNvPr id="24" name="Shape 22"/>
          <p:cNvSpPr/>
          <p:nvPr/>
        </p:nvSpPr>
        <p:spPr>
          <a:xfrm>
            <a:off x="9233668" y="2459736"/>
            <a:ext cx="658368" cy="658368"/>
          </a:xfrm>
          <a:prstGeom prst="ellipse">
            <a:avLst/>
          </a:prstGeom>
          <a:solidFill>
            <a:srgbClr val="2563EB"/>
          </a:solidFill>
          <a:ln w="38100">
            <a:solidFill>
              <a:srgbClr val="FFFFFF"/>
            </a:solidFill>
            <a:prstDash val="solid"/>
          </a:ln>
        </p:spPr>
      </p:sp>
      <p:sp>
        <p:nvSpPr>
          <p:cNvPr id="25" name="Text 23"/>
          <p:cNvSpPr txBox="1"/>
          <p:nvPr/>
        </p:nvSpPr>
        <p:spPr>
          <a:xfrm>
            <a:off x="9233668" y="245973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S7</a:t>
            </a:r>
            <a:endParaRPr lang="en-US" sz="1600" dirty="0"/>
          </a:p>
        </p:txBody>
      </p:sp>
      <p:sp>
        <p:nvSpPr>
          <p:cNvPr id="26" name="Text 24"/>
          <p:cNvSpPr txBox="1"/>
          <p:nvPr/>
        </p:nvSpPr>
        <p:spPr>
          <a:xfrm>
            <a:off x="8924315" y="3291840"/>
            <a:ext cx="1277074" cy="777240"/>
          </a:xfrm>
          <a:prstGeom prst="rect">
            <a:avLst/>
          </a:prstGeom>
          <a:noFill/>
          <a:ln/>
        </p:spPr>
        <p:txBody>
          <a:bodyPr wrap="square" lIns="0" tIns="0" rIns="0" bIns="0" rtlCol="0" anchor="t"/>
          <a:lstStyle/>
          <a:p>
            <a:pPr algn="ctr" indent="0" marL="0">
              <a:buNone/>
            </a:pPr>
            <a:r>
              <a:rPr lang="en-US" sz="1300" b="1" dirty="0">
                <a:solidFill>
                  <a:srgbClr val="0F172A"/>
                </a:solidFill>
                <a:latin typeface="Inter" pitchFamily="34" charset="0"/>
                <a:ea typeface="Inter" pitchFamily="34" charset="-122"/>
                <a:cs typeface="Inter" pitchFamily="34" charset="-120"/>
              </a:rPr>
              <a:t>Tableau de bord &amp; IA</a:t>
            </a:r>
            <a:endParaRPr lang="en-US" sz="1300" dirty="0"/>
          </a:p>
        </p:txBody>
      </p:sp>
      <p:sp>
        <p:nvSpPr>
          <p:cNvPr id="27" name="Shape 25"/>
          <p:cNvSpPr/>
          <p:nvPr/>
        </p:nvSpPr>
        <p:spPr>
          <a:xfrm>
            <a:off x="10620470" y="2459736"/>
            <a:ext cx="658368" cy="658368"/>
          </a:xfrm>
          <a:prstGeom prst="ellipse">
            <a:avLst/>
          </a:prstGeom>
          <a:solidFill>
            <a:srgbClr val="16A34A"/>
          </a:solidFill>
          <a:ln w="38100">
            <a:solidFill>
              <a:srgbClr val="FFFFFF"/>
            </a:solidFill>
            <a:prstDash val="solid"/>
          </a:ln>
        </p:spPr>
      </p:sp>
      <p:sp>
        <p:nvSpPr>
          <p:cNvPr id="28" name="Text 26"/>
          <p:cNvSpPr txBox="1"/>
          <p:nvPr/>
        </p:nvSpPr>
        <p:spPr>
          <a:xfrm>
            <a:off x="10620470" y="245973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S8</a:t>
            </a:r>
            <a:endParaRPr lang="en-US" sz="1600" dirty="0"/>
          </a:p>
        </p:txBody>
      </p:sp>
      <p:sp>
        <p:nvSpPr>
          <p:cNvPr id="29" name="Text 27"/>
          <p:cNvSpPr txBox="1"/>
          <p:nvPr/>
        </p:nvSpPr>
        <p:spPr>
          <a:xfrm>
            <a:off x="10311117" y="3291840"/>
            <a:ext cx="1277074" cy="777240"/>
          </a:xfrm>
          <a:prstGeom prst="rect">
            <a:avLst/>
          </a:prstGeom>
          <a:noFill/>
          <a:ln/>
        </p:spPr>
        <p:txBody>
          <a:bodyPr wrap="square" lIns="0" tIns="0" rIns="0" bIns="0" rtlCol="0" anchor="t"/>
          <a:lstStyle/>
          <a:p>
            <a:pPr algn="ctr" indent="0" marL="0">
              <a:buNone/>
            </a:pPr>
            <a:r>
              <a:rPr lang="en-US" sz="1300" b="1" dirty="0">
                <a:solidFill>
                  <a:srgbClr val="0F172A"/>
                </a:solidFill>
                <a:latin typeface="Inter" pitchFamily="34" charset="0"/>
                <a:ea typeface="Inter" pitchFamily="34" charset="-122"/>
                <a:cs typeface="Inter" pitchFamily="34" charset="-120"/>
              </a:rPr>
              <a:t>Tests &amp; déploiement</a:t>
            </a:r>
            <a:endParaRPr lang="en-US" sz="1300" dirty="0"/>
          </a:p>
        </p:txBody>
      </p:sp>
      <p:sp>
        <p:nvSpPr>
          <p:cNvPr id="30" name="Shape 28"/>
          <p:cNvSpPr/>
          <p:nvPr/>
        </p:nvSpPr>
        <p:spPr>
          <a:xfrm>
            <a:off x="548640" y="4526280"/>
            <a:ext cx="11094415" cy="1691640"/>
          </a:xfrm>
          <a:prstGeom prst="roundRect">
            <a:avLst>
              <a:gd name="adj" fmla="val 6486"/>
            </a:avLst>
          </a:prstGeom>
          <a:solidFill>
            <a:srgbClr val="F1F5F9"/>
          </a:solidFill>
          <a:ln w="12700">
            <a:solidFill>
              <a:srgbClr val="F1F5F9"/>
            </a:solidFill>
            <a:prstDash val="solid"/>
          </a:ln>
        </p:spPr>
      </p:sp>
      <p:sp>
        <p:nvSpPr>
          <p:cNvPr id="31" name="Text 29"/>
          <p:cNvSpPr txBox="1"/>
          <p:nvPr/>
        </p:nvSpPr>
        <p:spPr>
          <a:xfrm>
            <a:off x="868680" y="4709160"/>
            <a:ext cx="5486400" cy="274320"/>
          </a:xfrm>
          <a:prstGeom prst="rect">
            <a:avLst/>
          </a:prstGeom>
          <a:noFill/>
          <a:ln/>
        </p:spPr>
        <p:txBody>
          <a:bodyPr wrap="square" lIns="0" tIns="0" rIns="0" bIns="0" rtlCol="0" anchor="t"/>
          <a:lstStyle/>
          <a:p>
            <a:pPr indent="0" marL="0">
              <a:buNone/>
            </a:pPr>
            <a:r>
              <a:rPr lang="en-US" sz="1200" b="1" spc="200" kern="0" dirty="0">
                <a:solidFill>
                  <a:srgbClr val="64748B"/>
                </a:solidFill>
                <a:latin typeface="Inter" pitchFamily="34" charset="0"/>
                <a:ea typeface="Inter" pitchFamily="34" charset="-122"/>
                <a:cs typeface="Inter" pitchFamily="34" charset="-120"/>
              </a:rPr>
              <a:t>LA BOUCLE DE CHAQUE SPRINT</a:t>
            </a:r>
            <a:endParaRPr lang="en-US" sz="1200" dirty="0"/>
          </a:p>
        </p:txBody>
      </p:sp>
      <p:sp>
        <p:nvSpPr>
          <p:cNvPr id="32" name="Shape 30"/>
          <p:cNvSpPr/>
          <p:nvPr/>
        </p:nvSpPr>
        <p:spPr>
          <a:xfrm>
            <a:off x="868680" y="5120640"/>
            <a:ext cx="2148840" cy="731520"/>
          </a:xfrm>
          <a:prstGeom prst="roundRect">
            <a:avLst>
              <a:gd name="adj" fmla="val 12500"/>
            </a:avLst>
          </a:prstGeom>
          <a:solidFill>
            <a:srgbClr val="FFFFFF"/>
          </a:solidFill>
          <a:ln w="12700">
            <a:solidFill>
              <a:srgbClr val="E2E8F0"/>
            </a:solidFill>
            <a:prstDash val="solid"/>
          </a:ln>
          <a:effectLst>
            <a:outerShdw sx="100000" sy="100000" kx="0" ky="0" algn="bl" rotWithShape="0" blurRad="177800" dist="50800" dir="5400000">
              <a:srgbClr val="0F172A">
                <a:alpha val="16000"/>
              </a:srgbClr>
            </a:outerShdw>
          </a:effectLst>
        </p:spPr>
      </p:sp>
      <p:pic>
        <p:nvPicPr>
          <p:cNvPr id="33" name="Image 0" descr="preencoded.png">    </p:cNvPr>
          <p:cNvPicPr>
            <a:picLocks noChangeAspect="1"/>
          </p:cNvPicPr>
          <p:nvPr/>
        </p:nvPicPr>
        <p:blipFill>
          <a:blip r:embed="rId1"/>
          <a:stretch>
            <a:fillRect/>
          </a:stretch>
        </p:blipFill>
        <p:spPr>
          <a:xfrm>
            <a:off x="1097280" y="5330952"/>
            <a:ext cx="310896" cy="310896"/>
          </a:xfrm>
          <a:prstGeom prst="rect">
            <a:avLst/>
          </a:prstGeom>
        </p:spPr>
      </p:pic>
      <p:sp>
        <p:nvSpPr>
          <p:cNvPr id="34" name="Text 31"/>
          <p:cNvSpPr txBox="1"/>
          <p:nvPr/>
        </p:nvSpPr>
        <p:spPr>
          <a:xfrm>
            <a:off x="1527048" y="5120640"/>
            <a:ext cx="1417320" cy="731520"/>
          </a:xfrm>
          <a:prstGeom prst="rect">
            <a:avLst/>
          </a:prstGeom>
          <a:noFill/>
          <a:ln/>
        </p:spPr>
        <p:txBody>
          <a:bodyPr wrap="square" lIns="0" tIns="0" rIns="0" bIns="0" rtlCol="0" anchor="ctr"/>
          <a:lstStyle/>
          <a:p>
            <a:pPr indent="0" marL="0">
              <a:buNone/>
            </a:pPr>
            <a:r>
              <a:rPr lang="en-US" sz="1600" b="1" dirty="0">
                <a:solidFill>
                  <a:srgbClr val="0F172A"/>
                </a:solidFill>
                <a:latin typeface="Inter" pitchFamily="34" charset="0"/>
                <a:ea typeface="Inter" pitchFamily="34" charset="-122"/>
                <a:cs typeface="Inter" pitchFamily="34" charset="-120"/>
              </a:rPr>
              <a:t>Planifier</a:t>
            </a:r>
            <a:endParaRPr lang="en-US" sz="1600" dirty="0"/>
          </a:p>
        </p:txBody>
      </p:sp>
      <p:sp>
        <p:nvSpPr>
          <p:cNvPr id="35" name="Text 32"/>
          <p:cNvSpPr txBox="1"/>
          <p:nvPr/>
        </p:nvSpPr>
        <p:spPr>
          <a:xfrm>
            <a:off x="3017520" y="5120640"/>
            <a:ext cx="619658" cy="731520"/>
          </a:xfrm>
          <a:prstGeom prst="rect">
            <a:avLst/>
          </a:prstGeom>
          <a:noFill/>
          <a:ln/>
        </p:spPr>
        <p:txBody>
          <a:bodyPr wrap="square" lIns="0" tIns="0" rIns="0" bIns="0" rtlCol="0" anchor="ctr"/>
          <a:lstStyle/>
          <a:p>
            <a:pPr algn="ctr" indent="0" marL="0">
              <a:buNone/>
            </a:pPr>
            <a:r>
              <a:rPr lang="en-US" sz="2200" b="1" dirty="0">
                <a:solidFill>
                  <a:srgbClr val="2563EB"/>
                </a:solidFill>
                <a:latin typeface="Inter" pitchFamily="34" charset="0"/>
                <a:ea typeface="Inter" pitchFamily="34" charset="-122"/>
                <a:cs typeface="Inter" pitchFamily="34" charset="-120"/>
              </a:rPr>
              <a:t>→</a:t>
            </a:r>
            <a:endParaRPr lang="en-US" sz="2200" dirty="0"/>
          </a:p>
        </p:txBody>
      </p:sp>
      <p:sp>
        <p:nvSpPr>
          <p:cNvPr id="36" name="Shape 33"/>
          <p:cNvSpPr/>
          <p:nvPr/>
        </p:nvSpPr>
        <p:spPr>
          <a:xfrm>
            <a:off x="3637178" y="5120640"/>
            <a:ext cx="2148840" cy="731520"/>
          </a:xfrm>
          <a:prstGeom prst="roundRect">
            <a:avLst>
              <a:gd name="adj" fmla="val 12500"/>
            </a:avLst>
          </a:prstGeom>
          <a:solidFill>
            <a:srgbClr val="FFFFFF"/>
          </a:solidFill>
          <a:ln w="12700">
            <a:solidFill>
              <a:srgbClr val="E2E8F0"/>
            </a:solidFill>
            <a:prstDash val="solid"/>
          </a:ln>
          <a:effectLst>
            <a:outerShdw sx="100000" sy="100000" kx="0" ky="0" algn="bl" rotWithShape="0" blurRad="177800" dist="50800" dir="5400000">
              <a:srgbClr val="0F172A">
                <a:alpha val="16000"/>
              </a:srgbClr>
            </a:outerShdw>
          </a:effectLst>
        </p:spPr>
      </p:sp>
      <p:pic>
        <p:nvPicPr>
          <p:cNvPr id="37" name="Image 1" descr="preencoded.png">    </p:cNvPr>
          <p:cNvPicPr>
            <a:picLocks noChangeAspect="1"/>
          </p:cNvPicPr>
          <p:nvPr/>
        </p:nvPicPr>
        <p:blipFill>
          <a:blip r:embed="rId2"/>
          <a:stretch>
            <a:fillRect/>
          </a:stretch>
        </p:blipFill>
        <p:spPr>
          <a:xfrm>
            <a:off x="3865778" y="5330952"/>
            <a:ext cx="310896" cy="310896"/>
          </a:xfrm>
          <a:prstGeom prst="rect">
            <a:avLst/>
          </a:prstGeom>
        </p:spPr>
      </p:pic>
      <p:sp>
        <p:nvSpPr>
          <p:cNvPr id="38" name="Text 34"/>
          <p:cNvSpPr txBox="1"/>
          <p:nvPr/>
        </p:nvSpPr>
        <p:spPr>
          <a:xfrm>
            <a:off x="4295546" y="5120640"/>
            <a:ext cx="1417320" cy="731520"/>
          </a:xfrm>
          <a:prstGeom prst="rect">
            <a:avLst/>
          </a:prstGeom>
          <a:noFill/>
          <a:ln/>
        </p:spPr>
        <p:txBody>
          <a:bodyPr wrap="square" lIns="0" tIns="0" rIns="0" bIns="0" rtlCol="0" anchor="ctr"/>
          <a:lstStyle/>
          <a:p>
            <a:pPr indent="0" marL="0">
              <a:buNone/>
            </a:pPr>
            <a:r>
              <a:rPr lang="en-US" sz="1600" b="1" dirty="0">
                <a:solidFill>
                  <a:srgbClr val="0F172A"/>
                </a:solidFill>
                <a:latin typeface="Inter" pitchFamily="34" charset="0"/>
                <a:ea typeface="Inter" pitchFamily="34" charset="-122"/>
                <a:cs typeface="Inter" pitchFamily="34" charset="-120"/>
              </a:rPr>
              <a:t>Développer</a:t>
            </a:r>
            <a:endParaRPr lang="en-US" sz="1600" dirty="0"/>
          </a:p>
        </p:txBody>
      </p:sp>
      <p:sp>
        <p:nvSpPr>
          <p:cNvPr id="39" name="Text 35"/>
          <p:cNvSpPr txBox="1"/>
          <p:nvPr/>
        </p:nvSpPr>
        <p:spPr>
          <a:xfrm>
            <a:off x="5786018" y="5120640"/>
            <a:ext cx="619658" cy="731520"/>
          </a:xfrm>
          <a:prstGeom prst="rect">
            <a:avLst/>
          </a:prstGeom>
          <a:noFill/>
          <a:ln/>
        </p:spPr>
        <p:txBody>
          <a:bodyPr wrap="square" lIns="0" tIns="0" rIns="0" bIns="0" rtlCol="0" anchor="ctr"/>
          <a:lstStyle/>
          <a:p>
            <a:pPr algn="ctr" indent="0" marL="0">
              <a:buNone/>
            </a:pPr>
            <a:r>
              <a:rPr lang="en-US" sz="2200" b="1" dirty="0">
                <a:solidFill>
                  <a:srgbClr val="2563EB"/>
                </a:solidFill>
                <a:latin typeface="Inter" pitchFamily="34" charset="0"/>
                <a:ea typeface="Inter" pitchFamily="34" charset="-122"/>
                <a:cs typeface="Inter" pitchFamily="34" charset="-120"/>
              </a:rPr>
              <a:t>→</a:t>
            </a:r>
            <a:endParaRPr lang="en-US" sz="2200" dirty="0"/>
          </a:p>
        </p:txBody>
      </p:sp>
      <p:sp>
        <p:nvSpPr>
          <p:cNvPr id="40" name="Shape 36"/>
          <p:cNvSpPr/>
          <p:nvPr/>
        </p:nvSpPr>
        <p:spPr>
          <a:xfrm>
            <a:off x="6405677" y="5120640"/>
            <a:ext cx="2148840" cy="731520"/>
          </a:xfrm>
          <a:prstGeom prst="roundRect">
            <a:avLst>
              <a:gd name="adj" fmla="val 12500"/>
            </a:avLst>
          </a:prstGeom>
          <a:solidFill>
            <a:srgbClr val="FFFFFF"/>
          </a:solidFill>
          <a:ln w="12700">
            <a:solidFill>
              <a:srgbClr val="E2E8F0"/>
            </a:solidFill>
            <a:prstDash val="solid"/>
          </a:ln>
          <a:effectLst>
            <a:outerShdw sx="100000" sy="100000" kx="0" ky="0" algn="bl" rotWithShape="0" blurRad="177800" dist="50800" dir="5400000">
              <a:srgbClr val="0F172A">
                <a:alpha val="16000"/>
              </a:srgbClr>
            </a:outerShdw>
          </a:effectLst>
        </p:spPr>
      </p:sp>
      <p:pic>
        <p:nvPicPr>
          <p:cNvPr id="41" name="Image 2" descr="preencoded.png">    </p:cNvPr>
          <p:cNvPicPr>
            <a:picLocks noChangeAspect="1"/>
          </p:cNvPicPr>
          <p:nvPr/>
        </p:nvPicPr>
        <p:blipFill>
          <a:blip r:embed="rId3"/>
          <a:stretch>
            <a:fillRect/>
          </a:stretch>
        </p:blipFill>
        <p:spPr>
          <a:xfrm>
            <a:off x="6634277" y="5330952"/>
            <a:ext cx="310896" cy="310896"/>
          </a:xfrm>
          <a:prstGeom prst="rect">
            <a:avLst/>
          </a:prstGeom>
        </p:spPr>
      </p:pic>
      <p:sp>
        <p:nvSpPr>
          <p:cNvPr id="42" name="Text 37"/>
          <p:cNvSpPr txBox="1"/>
          <p:nvPr/>
        </p:nvSpPr>
        <p:spPr>
          <a:xfrm>
            <a:off x="7064045" y="5120640"/>
            <a:ext cx="1417320" cy="731520"/>
          </a:xfrm>
          <a:prstGeom prst="rect">
            <a:avLst/>
          </a:prstGeom>
          <a:noFill/>
          <a:ln/>
        </p:spPr>
        <p:txBody>
          <a:bodyPr wrap="square" lIns="0" tIns="0" rIns="0" bIns="0" rtlCol="0" anchor="ctr"/>
          <a:lstStyle/>
          <a:p>
            <a:pPr indent="0" marL="0">
              <a:buNone/>
            </a:pPr>
            <a:r>
              <a:rPr lang="en-US" sz="1600" b="1" dirty="0">
                <a:solidFill>
                  <a:srgbClr val="0F172A"/>
                </a:solidFill>
                <a:latin typeface="Inter" pitchFamily="34" charset="0"/>
                <a:ea typeface="Inter" pitchFamily="34" charset="-122"/>
                <a:cs typeface="Inter" pitchFamily="34" charset="-120"/>
              </a:rPr>
              <a:t>Tester</a:t>
            </a:r>
            <a:endParaRPr lang="en-US" sz="1600" dirty="0"/>
          </a:p>
        </p:txBody>
      </p:sp>
      <p:sp>
        <p:nvSpPr>
          <p:cNvPr id="43" name="Text 38"/>
          <p:cNvSpPr txBox="1"/>
          <p:nvPr/>
        </p:nvSpPr>
        <p:spPr>
          <a:xfrm>
            <a:off x="8554517" y="5120640"/>
            <a:ext cx="619658" cy="731520"/>
          </a:xfrm>
          <a:prstGeom prst="rect">
            <a:avLst/>
          </a:prstGeom>
          <a:noFill/>
          <a:ln/>
        </p:spPr>
        <p:txBody>
          <a:bodyPr wrap="square" lIns="0" tIns="0" rIns="0" bIns="0" rtlCol="0" anchor="ctr"/>
          <a:lstStyle/>
          <a:p>
            <a:pPr algn="ctr" indent="0" marL="0">
              <a:buNone/>
            </a:pPr>
            <a:r>
              <a:rPr lang="en-US" sz="2200" b="1" dirty="0">
                <a:solidFill>
                  <a:srgbClr val="2563EB"/>
                </a:solidFill>
                <a:latin typeface="Inter" pitchFamily="34" charset="0"/>
                <a:ea typeface="Inter" pitchFamily="34" charset="-122"/>
                <a:cs typeface="Inter" pitchFamily="34" charset="-120"/>
              </a:rPr>
              <a:t>→</a:t>
            </a:r>
            <a:endParaRPr lang="en-US" sz="2200" dirty="0"/>
          </a:p>
        </p:txBody>
      </p:sp>
      <p:sp>
        <p:nvSpPr>
          <p:cNvPr id="44" name="Shape 39"/>
          <p:cNvSpPr/>
          <p:nvPr/>
        </p:nvSpPr>
        <p:spPr>
          <a:xfrm>
            <a:off x="9174175" y="5120640"/>
            <a:ext cx="2148840" cy="731520"/>
          </a:xfrm>
          <a:prstGeom prst="roundRect">
            <a:avLst>
              <a:gd name="adj" fmla="val 12500"/>
            </a:avLst>
          </a:prstGeom>
          <a:solidFill>
            <a:srgbClr val="FFFFFF"/>
          </a:solidFill>
          <a:ln w="12700">
            <a:solidFill>
              <a:srgbClr val="E2E8F0"/>
            </a:solidFill>
            <a:prstDash val="solid"/>
          </a:ln>
          <a:effectLst>
            <a:outerShdw sx="100000" sy="100000" kx="0" ky="0" algn="bl" rotWithShape="0" blurRad="177800" dist="50800" dir="5400000">
              <a:srgbClr val="0F172A">
                <a:alpha val="16000"/>
              </a:srgbClr>
            </a:outerShdw>
          </a:effectLst>
        </p:spPr>
      </p:sp>
      <p:pic>
        <p:nvPicPr>
          <p:cNvPr id="45" name="Image 3" descr="preencoded.png">    </p:cNvPr>
          <p:cNvPicPr>
            <a:picLocks noChangeAspect="1"/>
          </p:cNvPicPr>
          <p:nvPr/>
        </p:nvPicPr>
        <p:blipFill>
          <a:blip r:embed="rId4"/>
          <a:stretch>
            <a:fillRect/>
          </a:stretch>
        </p:blipFill>
        <p:spPr>
          <a:xfrm>
            <a:off x="9402775" y="5330952"/>
            <a:ext cx="310896" cy="310896"/>
          </a:xfrm>
          <a:prstGeom prst="rect">
            <a:avLst/>
          </a:prstGeom>
        </p:spPr>
      </p:pic>
      <p:sp>
        <p:nvSpPr>
          <p:cNvPr id="46" name="Text 40"/>
          <p:cNvSpPr txBox="1"/>
          <p:nvPr/>
        </p:nvSpPr>
        <p:spPr>
          <a:xfrm>
            <a:off x="9832543" y="5120640"/>
            <a:ext cx="1417320" cy="731520"/>
          </a:xfrm>
          <a:prstGeom prst="rect">
            <a:avLst/>
          </a:prstGeom>
          <a:noFill/>
          <a:ln/>
        </p:spPr>
        <p:txBody>
          <a:bodyPr wrap="square" lIns="0" tIns="0" rIns="0" bIns="0" rtlCol="0" anchor="ctr"/>
          <a:lstStyle/>
          <a:p>
            <a:pPr indent="0" marL="0">
              <a:buNone/>
            </a:pPr>
            <a:r>
              <a:rPr lang="en-US" sz="1600" b="1" dirty="0">
                <a:solidFill>
                  <a:srgbClr val="0F172A"/>
                </a:solidFill>
                <a:latin typeface="Inter" pitchFamily="34" charset="0"/>
                <a:ea typeface="Inter" pitchFamily="34" charset="-122"/>
                <a:cs typeface="Inter" pitchFamily="34" charset="-120"/>
              </a:rPr>
              <a:t>Ajuster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93C5FD"/>
                </a:solidFill>
                <a:latin typeface="Inter" pitchFamily="34" charset="0"/>
                <a:ea typeface="Inter" pitchFamily="34" charset="-122"/>
                <a:cs typeface="Inter" pitchFamily="34" charset="-120"/>
              </a:rPr>
              <a:t>04  ·  SOUS LE CAPOT</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FFFFFF"/>
                </a:solidFill>
                <a:latin typeface="Inter" pitchFamily="34" charset="0"/>
                <a:ea typeface="Inter" pitchFamily="34" charset="-122"/>
                <a:cs typeface="Inter" pitchFamily="34" charset="-120"/>
              </a:rPr>
              <a:t>Une architecture trois tiers</a:t>
            </a:r>
            <a:endParaRPr lang="en-US" sz="3400" dirty="0"/>
          </a:p>
        </p:txBody>
      </p:sp>
      <p:sp>
        <p:nvSpPr>
          <p:cNvPr id="4" name="Shape 2"/>
          <p:cNvSpPr/>
          <p:nvPr/>
        </p:nvSpPr>
        <p:spPr>
          <a:xfrm>
            <a:off x="548640" y="1783080"/>
            <a:ext cx="3246120" cy="3886200"/>
          </a:xfrm>
          <a:prstGeom prst="roundRect">
            <a:avLst>
              <a:gd name="adj" fmla="val 3380"/>
            </a:avLst>
          </a:prstGeom>
          <a:solidFill>
            <a:srgbClr val="1E293B"/>
          </a:solidFill>
          <a:ln w="9525">
            <a:solidFill>
              <a:srgbClr val="334155"/>
            </a:solidFill>
            <a:prstDash val="solid"/>
          </a:ln>
        </p:spPr>
      </p:sp>
      <p:sp>
        <p:nvSpPr>
          <p:cNvPr id="5" name="Shape 3"/>
          <p:cNvSpPr/>
          <p:nvPr/>
        </p:nvSpPr>
        <p:spPr>
          <a:xfrm>
            <a:off x="868680" y="2103120"/>
            <a:ext cx="731520" cy="731520"/>
          </a:xfrm>
          <a:prstGeom prst="roundRect">
            <a:avLst>
              <a:gd name="adj" fmla="val 17500"/>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058875" y="2293315"/>
            <a:ext cx="351130" cy="351130"/>
          </a:xfrm>
          <a:prstGeom prst="rect">
            <a:avLst/>
          </a:prstGeom>
        </p:spPr>
      </p:pic>
      <p:sp>
        <p:nvSpPr>
          <p:cNvPr id="7" name="Text 4"/>
          <p:cNvSpPr txBox="1"/>
          <p:nvPr/>
        </p:nvSpPr>
        <p:spPr>
          <a:xfrm>
            <a:off x="868680" y="3063240"/>
            <a:ext cx="2697480" cy="274320"/>
          </a:xfrm>
          <a:prstGeom prst="rect">
            <a:avLst/>
          </a:prstGeom>
          <a:noFill/>
          <a:ln/>
        </p:spPr>
        <p:txBody>
          <a:bodyPr wrap="square" lIns="0" tIns="0" rIns="0" bIns="0" rtlCol="0" anchor="t"/>
          <a:lstStyle/>
          <a:p>
            <a:pPr indent="0" marL="0">
              <a:buNone/>
            </a:pPr>
            <a:r>
              <a:rPr lang="en-US" sz="1200" b="1" spc="200" kern="0" dirty="0">
                <a:solidFill>
                  <a:srgbClr val="93C5FD"/>
                </a:solidFill>
                <a:latin typeface="Inter" pitchFamily="34" charset="0"/>
                <a:ea typeface="Inter" pitchFamily="34" charset="-122"/>
                <a:cs typeface="Inter" pitchFamily="34" charset="-120"/>
              </a:rPr>
              <a:t>FRONTEND</a:t>
            </a:r>
            <a:endParaRPr lang="en-US" sz="1200" dirty="0"/>
          </a:p>
        </p:txBody>
      </p:sp>
      <p:sp>
        <p:nvSpPr>
          <p:cNvPr id="8" name="Text 5"/>
          <p:cNvSpPr txBox="1"/>
          <p:nvPr/>
        </p:nvSpPr>
        <p:spPr>
          <a:xfrm>
            <a:off x="868680" y="3355848"/>
            <a:ext cx="2697480" cy="457200"/>
          </a:xfrm>
          <a:prstGeom prst="rect">
            <a:avLst/>
          </a:prstGeom>
          <a:noFill/>
          <a:ln/>
        </p:spPr>
        <p:txBody>
          <a:bodyPr wrap="square" lIns="0" tIns="0" rIns="0" bIns="0" rtlCol="0" anchor="t"/>
          <a:lstStyle/>
          <a:p>
            <a:pPr indent="0" marL="0">
              <a:buNone/>
            </a:pPr>
            <a:r>
              <a:rPr lang="en-US" sz="2000" b="1" dirty="0">
                <a:solidFill>
                  <a:srgbClr val="FFFFFF"/>
                </a:solidFill>
                <a:latin typeface="Inter" pitchFamily="34" charset="0"/>
                <a:ea typeface="Inter" pitchFamily="34" charset="-122"/>
                <a:cs typeface="Inter" pitchFamily="34" charset="-120"/>
              </a:rPr>
              <a:t>React + TypeScript</a:t>
            </a:r>
            <a:endParaRPr lang="en-US" sz="2000" dirty="0"/>
          </a:p>
        </p:txBody>
      </p:sp>
      <p:sp>
        <p:nvSpPr>
          <p:cNvPr id="9" name="Text 6"/>
          <p:cNvSpPr txBox="1"/>
          <p:nvPr/>
        </p:nvSpPr>
        <p:spPr>
          <a:xfrm>
            <a:off x="868680" y="3977640"/>
            <a:ext cx="2743200" cy="14630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Application monopage responsive</a:t>
            </a:r>
            <a:endParaRPr lang="en-US" sz="1400" dirty="0"/>
          </a:p>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Une interface par rôle</a:t>
            </a:r>
            <a:endParaRPr lang="en-US" sz="1400" dirty="0"/>
          </a:p>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Graphiques et carte des techniciens</a:t>
            </a:r>
            <a:endParaRPr lang="en-US" sz="1400" dirty="0"/>
          </a:p>
        </p:txBody>
      </p:sp>
      <p:sp>
        <p:nvSpPr>
          <p:cNvPr id="10" name="Shape 7"/>
          <p:cNvSpPr/>
          <p:nvPr/>
        </p:nvSpPr>
        <p:spPr>
          <a:xfrm>
            <a:off x="3867912" y="3566160"/>
            <a:ext cx="531724" cy="0"/>
          </a:xfrm>
          <a:prstGeom prst="line">
            <a:avLst/>
          </a:prstGeom>
          <a:noFill/>
          <a:ln w="25400">
            <a:solidFill>
              <a:srgbClr val="93C5FD"/>
            </a:solidFill>
            <a:prstDash val="solid"/>
            <a:headEnd type="triangle"/>
            <a:tailEnd type="triangle"/>
          </a:ln>
        </p:spPr>
      </p:sp>
      <p:sp>
        <p:nvSpPr>
          <p:cNvPr id="11" name="Text 8"/>
          <p:cNvSpPr txBox="1"/>
          <p:nvPr/>
        </p:nvSpPr>
        <p:spPr>
          <a:xfrm>
            <a:off x="3776472" y="3703320"/>
            <a:ext cx="714604" cy="457200"/>
          </a:xfrm>
          <a:prstGeom prst="rect">
            <a:avLst/>
          </a:prstGeom>
          <a:noFill/>
          <a:ln/>
        </p:spPr>
        <p:txBody>
          <a:bodyPr wrap="square" lIns="0" tIns="0" rIns="0" bIns="0" rtlCol="0" anchor="t"/>
          <a:lstStyle/>
          <a:p>
            <a:pPr algn="ctr" indent="0" marL="0">
              <a:buNone/>
            </a:pPr>
            <a:r>
              <a:rPr lang="en-US" sz="1000" b="1" dirty="0">
                <a:solidFill>
                  <a:srgbClr val="93C5FD"/>
                </a:solidFill>
                <a:latin typeface="Inter" pitchFamily="34" charset="0"/>
                <a:ea typeface="Inter" pitchFamily="34" charset="-122"/>
                <a:cs typeface="Inter" pitchFamily="34" charset="-120"/>
              </a:rPr>
              <a:t>HTTPS</a:t>
            </a:r>
            <a:endParaRPr lang="en-US" sz="1000" dirty="0"/>
          </a:p>
          <a:p>
            <a:pPr algn="ctr" indent="0" marL="0">
              <a:buNone/>
            </a:pPr>
            <a:r>
              <a:rPr lang="en-US" sz="1000" b="1" dirty="0">
                <a:solidFill>
                  <a:srgbClr val="93C5FD"/>
                </a:solidFill>
                <a:latin typeface="Inter" pitchFamily="34" charset="0"/>
                <a:ea typeface="Inter" pitchFamily="34" charset="-122"/>
                <a:cs typeface="Inter" pitchFamily="34" charset="-120"/>
              </a:rPr>
              <a:t>+ WS</a:t>
            </a:r>
            <a:endParaRPr lang="en-US" sz="1000" dirty="0"/>
          </a:p>
        </p:txBody>
      </p:sp>
      <p:sp>
        <p:nvSpPr>
          <p:cNvPr id="12" name="Shape 9"/>
          <p:cNvSpPr/>
          <p:nvPr/>
        </p:nvSpPr>
        <p:spPr>
          <a:xfrm>
            <a:off x="4472788" y="1783080"/>
            <a:ext cx="3246120" cy="3886200"/>
          </a:xfrm>
          <a:prstGeom prst="roundRect">
            <a:avLst>
              <a:gd name="adj" fmla="val 3380"/>
            </a:avLst>
          </a:prstGeom>
          <a:solidFill>
            <a:srgbClr val="1E293B"/>
          </a:solidFill>
          <a:ln w="9525">
            <a:solidFill>
              <a:srgbClr val="334155"/>
            </a:solidFill>
            <a:prstDash val="solid"/>
          </a:ln>
        </p:spPr>
      </p:sp>
      <p:sp>
        <p:nvSpPr>
          <p:cNvPr id="13" name="Shape 10"/>
          <p:cNvSpPr/>
          <p:nvPr/>
        </p:nvSpPr>
        <p:spPr>
          <a:xfrm>
            <a:off x="4792828" y="2103120"/>
            <a:ext cx="731520" cy="731520"/>
          </a:xfrm>
          <a:prstGeom prst="roundRect">
            <a:avLst>
              <a:gd name="adj" fmla="val 17500"/>
            </a:avLst>
          </a:prstGeom>
          <a:solidFill>
            <a:srgbClr val="2563EB"/>
          </a:solidFill>
          <a:ln w="12700">
            <a:solidFill>
              <a:srgbClr val="2563EB"/>
            </a:solidFill>
            <a:prstDash val="solid"/>
          </a:ln>
        </p:spPr>
      </p:sp>
      <p:pic>
        <p:nvPicPr>
          <p:cNvPr id="14" name="Image 1" descr="preencoded.png">    </p:cNvPr>
          <p:cNvPicPr>
            <a:picLocks noChangeAspect="1"/>
          </p:cNvPicPr>
          <p:nvPr/>
        </p:nvPicPr>
        <p:blipFill>
          <a:blip r:embed="rId2"/>
          <a:stretch>
            <a:fillRect/>
          </a:stretch>
        </p:blipFill>
        <p:spPr>
          <a:xfrm>
            <a:off x="4983023" y="2293315"/>
            <a:ext cx="351130" cy="351130"/>
          </a:xfrm>
          <a:prstGeom prst="rect">
            <a:avLst/>
          </a:prstGeom>
        </p:spPr>
      </p:pic>
      <p:sp>
        <p:nvSpPr>
          <p:cNvPr id="15" name="Text 11"/>
          <p:cNvSpPr txBox="1"/>
          <p:nvPr/>
        </p:nvSpPr>
        <p:spPr>
          <a:xfrm>
            <a:off x="4792828" y="3063240"/>
            <a:ext cx="2697480" cy="274320"/>
          </a:xfrm>
          <a:prstGeom prst="rect">
            <a:avLst/>
          </a:prstGeom>
          <a:noFill/>
          <a:ln/>
        </p:spPr>
        <p:txBody>
          <a:bodyPr wrap="square" lIns="0" tIns="0" rIns="0" bIns="0" rtlCol="0" anchor="t"/>
          <a:lstStyle/>
          <a:p>
            <a:pPr indent="0" marL="0">
              <a:buNone/>
            </a:pPr>
            <a:r>
              <a:rPr lang="en-US" sz="1200" b="1" spc="200" kern="0" dirty="0">
                <a:solidFill>
                  <a:srgbClr val="93C5FD"/>
                </a:solidFill>
                <a:latin typeface="Inter" pitchFamily="34" charset="0"/>
                <a:ea typeface="Inter" pitchFamily="34" charset="-122"/>
                <a:cs typeface="Inter" pitchFamily="34" charset="-120"/>
              </a:rPr>
              <a:t>BACKEND</a:t>
            </a:r>
            <a:endParaRPr lang="en-US" sz="1200" dirty="0"/>
          </a:p>
        </p:txBody>
      </p:sp>
      <p:sp>
        <p:nvSpPr>
          <p:cNvPr id="16" name="Text 12"/>
          <p:cNvSpPr txBox="1"/>
          <p:nvPr/>
        </p:nvSpPr>
        <p:spPr>
          <a:xfrm>
            <a:off x="4792828" y="3355848"/>
            <a:ext cx="2697480" cy="457200"/>
          </a:xfrm>
          <a:prstGeom prst="rect">
            <a:avLst/>
          </a:prstGeom>
          <a:noFill/>
          <a:ln/>
        </p:spPr>
        <p:txBody>
          <a:bodyPr wrap="square" lIns="0" tIns="0" rIns="0" bIns="0" rtlCol="0" anchor="t"/>
          <a:lstStyle/>
          <a:p>
            <a:pPr indent="0" marL="0">
              <a:buNone/>
            </a:pPr>
            <a:r>
              <a:rPr lang="en-US" sz="2000" b="1" dirty="0">
                <a:solidFill>
                  <a:srgbClr val="FFFFFF"/>
                </a:solidFill>
                <a:latin typeface="Inter" pitchFamily="34" charset="0"/>
                <a:ea typeface="Inter" pitchFamily="34" charset="-122"/>
                <a:cs typeface="Inter" pitchFamily="34" charset="-120"/>
              </a:rPr>
              <a:t>Django REST</a:t>
            </a:r>
            <a:endParaRPr lang="en-US" sz="2000" dirty="0"/>
          </a:p>
        </p:txBody>
      </p:sp>
      <p:sp>
        <p:nvSpPr>
          <p:cNvPr id="17" name="Text 13"/>
          <p:cNvSpPr txBox="1"/>
          <p:nvPr/>
        </p:nvSpPr>
        <p:spPr>
          <a:xfrm>
            <a:off x="4792828" y="3977640"/>
            <a:ext cx="2743200" cy="14630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API REST (DRF) sécurisée par JWT</a:t>
            </a:r>
            <a:endParaRPr lang="en-US" sz="1400" dirty="0"/>
          </a:p>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Permissions vérifiées par rôle</a:t>
            </a:r>
            <a:endParaRPr lang="en-US" sz="1400" dirty="0"/>
          </a:p>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Channels : WebSocket temps réel</a:t>
            </a:r>
            <a:endParaRPr lang="en-US" sz="1400" dirty="0"/>
          </a:p>
        </p:txBody>
      </p:sp>
      <p:sp>
        <p:nvSpPr>
          <p:cNvPr id="18" name="Shape 14"/>
          <p:cNvSpPr/>
          <p:nvPr/>
        </p:nvSpPr>
        <p:spPr>
          <a:xfrm>
            <a:off x="7792060" y="3566160"/>
            <a:ext cx="531724" cy="0"/>
          </a:xfrm>
          <a:prstGeom prst="line">
            <a:avLst/>
          </a:prstGeom>
          <a:noFill/>
          <a:ln w="25400">
            <a:solidFill>
              <a:srgbClr val="93C5FD"/>
            </a:solidFill>
            <a:prstDash val="solid"/>
            <a:headEnd type="triangle"/>
            <a:tailEnd type="triangle"/>
          </a:ln>
        </p:spPr>
      </p:sp>
      <p:sp>
        <p:nvSpPr>
          <p:cNvPr id="19" name="Text 15"/>
          <p:cNvSpPr txBox="1"/>
          <p:nvPr/>
        </p:nvSpPr>
        <p:spPr>
          <a:xfrm>
            <a:off x="7700620" y="3703320"/>
            <a:ext cx="714604" cy="457200"/>
          </a:xfrm>
          <a:prstGeom prst="rect">
            <a:avLst/>
          </a:prstGeom>
          <a:noFill/>
          <a:ln/>
        </p:spPr>
        <p:txBody>
          <a:bodyPr wrap="square" lIns="0" tIns="0" rIns="0" bIns="0" rtlCol="0" anchor="t"/>
          <a:lstStyle/>
          <a:p>
            <a:pPr algn="ctr" indent="0" marL="0">
              <a:buNone/>
            </a:pPr>
            <a:r>
              <a:rPr lang="en-US" sz="1000" b="1" dirty="0">
                <a:solidFill>
                  <a:srgbClr val="93C5FD"/>
                </a:solidFill>
                <a:latin typeface="Inter" pitchFamily="34" charset="0"/>
                <a:ea typeface="Inter" pitchFamily="34" charset="-122"/>
                <a:cs typeface="Inter" pitchFamily="34" charset="-120"/>
              </a:rPr>
              <a:t>ORM</a:t>
            </a:r>
            <a:endParaRPr lang="en-US" sz="1000" dirty="0"/>
          </a:p>
        </p:txBody>
      </p:sp>
      <p:sp>
        <p:nvSpPr>
          <p:cNvPr id="20" name="Shape 16"/>
          <p:cNvSpPr/>
          <p:nvPr/>
        </p:nvSpPr>
        <p:spPr>
          <a:xfrm>
            <a:off x="8396935" y="1783080"/>
            <a:ext cx="3246120" cy="3886200"/>
          </a:xfrm>
          <a:prstGeom prst="roundRect">
            <a:avLst>
              <a:gd name="adj" fmla="val 3380"/>
            </a:avLst>
          </a:prstGeom>
          <a:solidFill>
            <a:srgbClr val="1E293B"/>
          </a:solidFill>
          <a:ln w="9525">
            <a:solidFill>
              <a:srgbClr val="334155"/>
            </a:solidFill>
            <a:prstDash val="solid"/>
          </a:ln>
        </p:spPr>
      </p:sp>
      <p:sp>
        <p:nvSpPr>
          <p:cNvPr id="21" name="Shape 17"/>
          <p:cNvSpPr/>
          <p:nvPr/>
        </p:nvSpPr>
        <p:spPr>
          <a:xfrm>
            <a:off x="8716975" y="2103120"/>
            <a:ext cx="731520" cy="731520"/>
          </a:xfrm>
          <a:prstGeom prst="roundRect">
            <a:avLst>
              <a:gd name="adj" fmla="val 17500"/>
            </a:avLst>
          </a:prstGeom>
          <a:solidFill>
            <a:srgbClr val="2563EB"/>
          </a:solidFill>
          <a:ln w="12700">
            <a:solidFill>
              <a:srgbClr val="2563EB"/>
            </a:solidFill>
            <a:prstDash val="solid"/>
          </a:ln>
        </p:spPr>
      </p:sp>
      <p:pic>
        <p:nvPicPr>
          <p:cNvPr id="22" name="Image 2" descr="preencoded.png">    </p:cNvPr>
          <p:cNvPicPr>
            <a:picLocks noChangeAspect="1"/>
          </p:cNvPicPr>
          <p:nvPr/>
        </p:nvPicPr>
        <p:blipFill>
          <a:blip r:embed="rId3"/>
          <a:stretch>
            <a:fillRect/>
          </a:stretch>
        </p:blipFill>
        <p:spPr>
          <a:xfrm>
            <a:off x="8907170" y="2293315"/>
            <a:ext cx="351130" cy="351130"/>
          </a:xfrm>
          <a:prstGeom prst="rect">
            <a:avLst/>
          </a:prstGeom>
        </p:spPr>
      </p:pic>
      <p:sp>
        <p:nvSpPr>
          <p:cNvPr id="23" name="Text 18"/>
          <p:cNvSpPr txBox="1"/>
          <p:nvPr/>
        </p:nvSpPr>
        <p:spPr>
          <a:xfrm>
            <a:off x="8716975" y="3063240"/>
            <a:ext cx="2697480" cy="274320"/>
          </a:xfrm>
          <a:prstGeom prst="rect">
            <a:avLst/>
          </a:prstGeom>
          <a:noFill/>
          <a:ln/>
        </p:spPr>
        <p:txBody>
          <a:bodyPr wrap="square" lIns="0" tIns="0" rIns="0" bIns="0" rtlCol="0" anchor="t"/>
          <a:lstStyle/>
          <a:p>
            <a:pPr indent="0" marL="0">
              <a:buNone/>
            </a:pPr>
            <a:r>
              <a:rPr lang="en-US" sz="1200" b="1" spc="200" kern="0" dirty="0">
                <a:solidFill>
                  <a:srgbClr val="93C5FD"/>
                </a:solidFill>
                <a:latin typeface="Inter" pitchFamily="34" charset="0"/>
                <a:ea typeface="Inter" pitchFamily="34" charset="-122"/>
                <a:cs typeface="Inter" pitchFamily="34" charset="-120"/>
              </a:rPr>
              <a:t>DONNÉES &amp; SERVICES</a:t>
            </a:r>
            <a:endParaRPr lang="en-US" sz="1200" dirty="0"/>
          </a:p>
        </p:txBody>
      </p:sp>
      <p:sp>
        <p:nvSpPr>
          <p:cNvPr id="24" name="Text 19"/>
          <p:cNvSpPr txBox="1"/>
          <p:nvPr/>
        </p:nvSpPr>
        <p:spPr>
          <a:xfrm>
            <a:off x="8716975" y="3355848"/>
            <a:ext cx="2697480" cy="457200"/>
          </a:xfrm>
          <a:prstGeom prst="rect">
            <a:avLst/>
          </a:prstGeom>
          <a:noFill/>
          <a:ln/>
        </p:spPr>
        <p:txBody>
          <a:bodyPr wrap="square" lIns="0" tIns="0" rIns="0" bIns="0" rtlCol="0" anchor="t"/>
          <a:lstStyle/>
          <a:p>
            <a:pPr indent="0" marL="0">
              <a:buNone/>
            </a:pPr>
            <a:r>
              <a:rPr lang="en-US" sz="2000" b="1" dirty="0">
                <a:solidFill>
                  <a:srgbClr val="FFFFFF"/>
                </a:solidFill>
                <a:latin typeface="Inter" pitchFamily="34" charset="0"/>
                <a:ea typeface="Inter" pitchFamily="34" charset="-122"/>
                <a:cs typeface="Inter" pitchFamily="34" charset="-120"/>
              </a:rPr>
              <a:t>PostgreSQL</a:t>
            </a:r>
            <a:endParaRPr lang="en-US" sz="2000" dirty="0"/>
          </a:p>
        </p:txBody>
      </p:sp>
      <p:sp>
        <p:nvSpPr>
          <p:cNvPr id="25" name="Text 20"/>
          <p:cNvSpPr txBox="1"/>
          <p:nvPr/>
        </p:nvSpPr>
        <p:spPr>
          <a:xfrm>
            <a:off x="8716975" y="3977640"/>
            <a:ext cx="2743200" cy="14630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Stockage des photos</a:t>
            </a:r>
            <a:endParaRPr lang="en-US" sz="1400" dirty="0"/>
          </a:p>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API Gemini (assistant IA)</a:t>
            </a:r>
            <a:endParaRPr lang="en-US" sz="1400" dirty="0"/>
          </a:p>
          <a:p>
            <a:pPr marL="177800" indent="-177800">
              <a:spcAft>
                <a:spcPts val="800"/>
              </a:spcAft>
              <a:buSzPct val="100000"/>
              <a:buChar char="•"/>
            </a:pPr>
            <a:r>
              <a:rPr lang="en-US" sz="1400" dirty="0">
                <a:solidFill>
                  <a:srgbClr val="CBD5E1"/>
                </a:solidFill>
                <a:latin typeface="Inter" pitchFamily="34" charset="0"/>
                <a:ea typeface="Inter" pitchFamily="34" charset="-122"/>
                <a:cs typeface="Inter" pitchFamily="34" charset="-120"/>
              </a:rPr>
              <a:t>SMTP (notifications email)</a:t>
            </a:r>
            <a:endParaRPr lang="en-US" sz="1400" dirty="0"/>
          </a:p>
        </p:txBody>
      </p:sp>
      <p:sp>
        <p:nvSpPr>
          <p:cNvPr id="26" name="Text 21"/>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400" i="1" dirty="0">
                <a:solidFill>
                  <a:srgbClr val="94A3B8"/>
                </a:solidFill>
                <a:latin typeface="Inter" pitchFamily="34" charset="0"/>
                <a:ea typeface="Inter" pitchFamily="34" charset="-122"/>
                <a:cs typeface="Inter" pitchFamily="34" charset="-120"/>
              </a:rPr>
              <a:t>Chaque couche est testable et remplaçable indépendamment des autres.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Inter" pitchFamily="34" charset="0"/>
                <a:ea typeface="Inter" pitchFamily="34" charset="-122"/>
                <a:cs typeface="Inter" pitchFamily="34" charset="-120"/>
              </a:rPr>
              <a:t>05  ·  CONCEPTION</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0F172A"/>
                </a:solidFill>
                <a:latin typeface="Inter" pitchFamily="34" charset="0"/>
                <a:ea typeface="Inter" pitchFamily="34" charset="-122"/>
                <a:cs typeface="Inter" pitchFamily="34" charset="-120"/>
              </a:rPr>
              <a:t>Concevoir avant de coder : UML</a:t>
            </a:r>
            <a:endParaRPr lang="en-US" sz="3400" dirty="0"/>
          </a:p>
        </p:txBody>
      </p:sp>
      <p:sp>
        <p:nvSpPr>
          <p:cNvPr id="4" name="Shape 2"/>
          <p:cNvSpPr/>
          <p:nvPr/>
        </p:nvSpPr>
        <p:spPr>
          <a:xfrm>
            <a:off x="548640" y="1645920"/>
            <a:ext cx="3429000" cy="3137535"/>
          </a:xfrm>
          <a:prstGeom prst="rect">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pic>
        <p:nvPicPr>
          <p:cNvPr id="5" name="Image 0" descr="img/uc.jpg">    </p:cNvPr>
          <p:cNvPicPr>
            <a:picLocks noChangeAspect="1"/>
          </p:cNvPicPr>
          <p:nvPr/>
        </p:nvPicPr>
        <p:blipFill>
          <a:blip r:embed="rId1"/>
          <a:stretch>
            <a:fillRect/>
          </a:stretch>
        </p:blipFill>
        <p:spPr>
          <a:xfrm>
            <a:off x="585216" y="1682496"/>
            <a:ext cx="3355848" cy="3064383"/>
          </a:xfrm>
          <a:prstGeom prst="rect">
            <a:avLst/>
          </a:prstGeom>
        </p:spPr>
      </p:pic>
      <p:sp>
        <p:nvSpPr>
          <p:cNvPr id="6" name="Shape 3"/>
          <p:cNvSpPr/>
          <p:nvPr/>
        </p:nvSpPr>
        <p:spPr>
          <a:xfrm>
            <a:off x="4160520" y="1645920"/>
            <a:ext cx="3429000" cy="2884646"/>
          </a:xfrm>
          <a:prstGeom prst="rect">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pic>
        <p:nvPicPr>
          <p:cNvPr id="7" name="Image 1" descr="img/classes.jpg">    </p:cNvPr>
          <p:cNvPicPr>
            <a:picLocks noChangeAspect="1"/>
          </p:cNvPicPr>
          <p:nvPr/>
        </p:nvPicPr>
        <p:blipFill>
          <a:blip r:embed="rId2"/>
          <a:stretch>
            <a:fillRect/>
          </a:stretch>
        </p:blipFill>
        <p:spPr>
          <a:xfrm>
            <a:off x="4197096" y="1682496"/>
            <a:ext cx="3355848" cy="2811494"/>
          </a:xfrm>
          <a:prstGeom prst="rect">
            <a:avLst/>
          </a:prstGeom>
        </p:spPr>
      </p:pic>
      <p:sp>
        <p:nvSpPr>
          <p:cNvPr id="8" name="Text 4"/>
          <p:cNvSpPr txBox="1"/>
          <p:nvPr/>
        </p:nvSpPr>
        <p:spPr>
          <a:xfrm>
            <a:off x="548640" y="4874895"/>
            <a:ext cx="3429000" cy="274320"/>
          </a:xfrm>
          <a:prstGeom prst="rect">
            <a:avLst/>
          </a:prstGeom>
          <a:noFill/>
          <a:ln/>
        </p:spPr>
        <p:txBody>
          <a:bodyPr wrap="square" lIns="0" tIns="0" rIns="0" bIns="0" rtlCol="0" anchor="t"/>
          <a:lstStyle/>
          <a:p>
            <a:pPr indent="0" marL="0">
              <a:buNone/>
            </a:pPr>
            <a:r>
              <a:rPr lang="en-US" sz="1200" i="1" dirty="0">
                <a:solidFill>
                  <a:srgbClr val="64748B"/>
                </a:solidFill>
                <a:latin typeface="Inter" pitchFamily="34" charset="0"/>
                <a:ea typeface="Inter" pitchFamily="34" charset="-122"/>
                <a:cs typeface="Inter" pitchFamily="34" charset="-120"/>
              </a:rPr>
              <a:t>Cas d’utilisation global</a:t>
            </a:r>
            <a:endParaRPr lang="en-US" sz="1200" dirty="0"/>
          </a:p>
        </p:txBody>
      </p:sp>
      <p:sp>
        <p:nvSpPr>
          <p:cNvPr id="9" name="Text 5"/>
          <p:cNvSpPr txBox="1"/>
          <p:nvPr/>
        </p:nvSpPr>
        <p:spPr>
          <a:xfrm>
            <a:off x="4160520" y="4622006"/>
            <a:ext cx="3429000" cy="274320"/>
          </a:xfrm>
          <a:prstGeom prst="rect">
            <a:avLst/>
          </a:prstGeom>
          <a:noFill/>
          <a:ln/>
        </p:spPr>
        <p:txBody>
          <a:bodyPr wrap="square" lIns="0" tIns="0" rIns="0" bIns="0" rtlCol="0" anchor="t"/>
          <a:lstStyle/>
          <a:p>
            <a:pPr indent="0" marL="0">
              <a:buNone/>
            </a:pPr>
            <a:r>
              <a:rPr lang="en-US" sz="1200" i="1" dirty="0">
                <a:solidFill>
                  <a:srgbClr val="64748B"/>
                </a:solidFill>
                <a:latin typeface="Inter" pitchFamily="34" charset="0"/>
                <a:ea typeface="Inter" pitchFamily="34" charset="-122"/>
                <a:cs typeface="Inter" pitchFamily="34" charset="-120"/>
              </a:rPr>
              <a:t>Diagramme de classes</a:t>
            </a:r>
            <a:endParaRPr lang="en-US" sz="1200" dirty="0"/>
          </a:p>
        </p:txBody>
      </p:sp>
      <p:sp>
        <p:nvSpPr>
          <p:cNvPr id="10" name="Text 6"/>
          <p:cNvSpPr txBox="1"/>
          <p:nvPr/>
        </p:nvSpPr>
        <p:spPr>
          <a:xfrm>
            <a:off x="8001000" y="1645920"/>
            <a:ext cx="731520" cy="731520"/>
          </a:xfrm>
          <a:prstGeom prst="rect">
            <a:avLst/>
          </a:prstGeom>
          <a:noFill/>
          <a:ln/>
        </p:spPr>
        <p:txBody>
          <a:bodyPr wrap="square" lIns="0" tIns="0" rIns="0" bIns="0" rtlCol="0" anchor="t"/>
          <a:lstStyle/>
          <a:p>
            <a:pPr indent="0" marL="0">
              <a:buNone/>
            </a:pPr>
            <a:r>
              <a:rPr lang="en-US" sz="4000" b="1" dirty="0">
                <a:solidFill>
                  <a:srgbClr val="2563EB"/>
                </a:solidFill>
                <a:latin typeface="Inter" pitchFamily="34" charset="0"/>
                <a:ea typeface="Inter" pitchFamily="34" charset="-122"/>
                <a:cs typeface="Inter" pitchFamily="34" charset="-120"/>
              </a:rPr>
              <a:t>4</a:t>
            </a:r>
            <a:endParaRPr lang="en-US" sz="4000" dirty="0"/>
          </a:p>
        </p:txBody>
      </p:sp>
      <p:sp>
        <p:nvSpPr>
          <p:cNvPr id="11" name="Text 7"/>
          <p:cNvSpPr txBox="1"/>
          <p:nvPr/>
        </p:nvSpPr>
        <p:spPr>
          <a:xfrm>
            <a:off x="8732520" y="1719072"/>
            <a:ext cx="2907792" cy="868680"/>
          </a:xfrm>
          <a:prstGeom prst="rect">
            <a:avLst/>
          </a:prstGeom>
          <a:noFill/>
          <a:ln/>
        </p:spPr>
        <p:txBody>
          <a:bodyPr wrap="square" lIns="0" tIns="0" rIns="0" bIns="0" rtlCol="0" anchor="t"/>
          <a:lstStyle/>
          <a:p>
            <a:pPr indent="0" marL="0">
              <a:spcAft>
                <a:spcPts val="200"/>
              </a:spcAft>
              <a:buNone/>
            </a:pPr>
            <a:r>
              <a:rPr lang="en-US" sz="1600" b="1" dirty="0">
                <a:solidFill>
                  <a:srgbClr val="0F172A"/>
                </a:solidFill>
                <a:latin typeface="Inter" pitchFamily="34" charset="0"/>
                <a:ea typeface="Inter" pitchFamily="34" charset="-122"/>
                <a:cs typeface="Inter" pitchFamily="34" charset="-120"/>
              </a:rPr>
              <a:t>acteurs</a:t>
            </a:r>
            <a:endParaRPr lang="en-US" sz="1600" dirty="0"/>
          </a:p>
          <a:p>
            <a:pPr indent="0" marL="0">
              <a:spcAft>
                <a:spcPts val="200"/>
              </a:spcAft>
              <a:buNone/>
            </a:pPr>
            <a:r>
              <a:rPr lang="en-US" sz="1300" dirty="0">
                <a:solidFill>
                  <a:srgbClr val="475569"/>
                </a:solidFill>
                <a:latin typeface="Inter" pitchFamily="34" charset="0"/>
                <a:ea typeface="Inter" pitchFamily="34" charset="-122"/>
                <a:cs typeface="Inter" pitchFamily="34" charset="-120"/>
              </a:rPr>
              <a:t>Client, responsable, technicien, administrateur</a:t>
            </a:r>
            <a:endParaRPr lang="en-US" sz="1600" dirty="0"/>
          </a:p>
        </p:txBody>
      </p:sp>
      <p:sp>
        <p:nvSpPr>
          <p:cNvPr id="12" name="Text 8"/>
          <p:cNvSpPr txBox="1"/>
          <p:nvPr/>
        </p:nvSpPr>
        <p:spPr>
          <a:xfrm>
            <a:off x="8001000" y="2670048"/>
            <a:ext cx="731520" cy="731520"/>
          </a:xfrm>
          <a:prstGeom prst="rect">
            <a:avLst/>
          </a:prstGeom>
          <a:noFill/>
          <a:ln/>
        </p:spPr>
        <p:txBody>
          <a:bodyPr wrap="square" lIns="0" tIns="0" rIns="0" bIns="0" rtlCol="0" anchor="t"/>
          <a:lstStyle/>
          <a:p>
            <a:pPr indent="0" marL="0">
              <a:buNone/>
            </a:pPr>
            <a:r>
              <a:rPr lang="en-US" sz="4000" b="1" dirty="0">
                <a:solidFill>
                  <a:srgbClr val="2563EB"/>
                </a:solidFill>
                <a:latin typeface="Inter" pitchFamily="34" charset="0"/>
                <a:ea typeface="Inter" pitchFamily="34" charset="-122"/>
                <a:cs typeface="Inter" pitchFamily="34" charset="-120"/>
              </a:rPr>
              <a:t>8</a:t>
            </a:r>
            <a:endParaRPr lang="en-US" sz="4000" dirty="0"/>
          </a:p>
        </p:txBody>
      </p:sp>
      <p:sp>
        <p:nvSpPr>
          <p:cNvPr id="13" name="Text 9"/>
          <p:cNvSpPr txBox="1"/>
          <p:nvPr/>
        </p:nvSpPr>
        <p:spPr>
          <a:xfrm>
            <a:off x="8732520" y="2743200"/>
            <a:ext cx="2907792" cy="868680"/>
          </a:xfrm>
          <a:prstGeom prst="rect">
            <a:avLst/>
          </a:prstGeom>
          <a:noFill/>
          <a:ln/>
        </p:spPr>
        <p:txBody>
          <a:bodyPr wrap="square" lIns="0" tIns="0" rIns="0" bIns="0" rtlCol="0" anchor="t"/>
          <a:lstStyle/>
          <a:p>
            <a:pPr indent="0" marL="0">
              <a:spcAft>
                <a:spcPts val="200"/>
              </a:spcAft>
              <a:buNone/>
            </a:pPr>
            <a:r>
              <a:rPr lang="en-US" sz="1600" b="1" dirty="0">
                <a:solidFill>
                  <a:srgbClr val="0F172A"/>
                </a:solidFill>
                <a:latin typeface="Inter" pitchFamily="34" charset="0"/>
                <a:ea typeface="Inter" pitchFamily="34" charset="-122"/>
                <a:cs typeface="Inter" pitchFamily="34" charset="-120"/>
              </a:rPr>
              <a:t>diagrammes de séquence</a:t>
            </a:r>
            <a:endParaRPr lang="en-US" sz="1600" dirty="0"/>
          </a:p>
          <a:p>
            <a:pPr indent="0" marL="0">
              <a:spcAft>
                <a:spcPts val="200"/>
              </a:spcAft>
              <a:buNone/>
            </a:pPr>
            <a:r>
              <a:rPr lang="en-US" sz="1300" dirty="0">
                <a:solidFill>
                  <a:srgbClr val="475569"/>
                </a:solidFill>
                <a:latin typeface="Inter" pitchFamily="34" charset="0"/>
                <a:ea typeface="Inter" pitchFamily="34" charset="-122"/>
                <a:cs typeface="Inter" pitchFamily="34" charset="-120"/>
              </a:rPr>
              <a:t>Authentification, demande, affectation, clôture, PDF…</a:t>
            </a:r>
            <a:endParaRPr lang="en-US" sz="1600" dirty="0"/>
          </a:p>
        </p:txBody>
      </p:sp>
      <p:sp>
        <p:nvSpPr>
          <p:cNvPr id="14" name="Text 10"/>
          <p:cNvSpPr txBox="1"/>
          <p:nvPr/>
        </p:nvSpPr>
        <p:spPr>
          <a:xfrm>
            <a:off x="8001000" y="3694176"/>
            <a:ext cx="731520" cy="731520"/>
          </a:xfrm>
          <a:prstGeom prst="rect">
            <a:avLst/>
          </a:prstGeom>
          <a:noFill/>
          <a:ln/>
        </p:spPr>
        <p:txBody>
          <a:bodyPr wrap="square" lIns="0" tIns="0" rIns="0" bIns="0" rtlCol="0" anchor="t"/>
          <a:lstStyle/>
          <a:p>
            <a:pPr indent="0" marL="0">
              <a:buNone/>
            </a:pPr>
            <a:r>
              <a:rPr lang="en-US" sz="4000" b="1" dirty="0">
                <a:solidFill>
                  <a:srgbClr val="2563EB"/>
                </a:solidFill>
                <a:latin typeface="Inter" pitchFamily="34" charset="0"/>
                <a:ea typeface="Inter" pitchFamily="34" charset="-122"/>
                <a:cs typeface="Inter" pitchFamily="34" charset="-120"/>
              </a:rPr>
              <a:t>4</a:t>
            </a:r>
            <a:endParaRPr lang="en-US" sz="4000" dirty="0"/>
          </a:p>
        </p:txBody>
      </p:sp>
      <p:sp>
        <p:nvSpPr>
          <p:cNvPr id="15" name="Text 11"/>
          <p:cNvSpPr txBox="1"/>
          <p:nvPr/>
        </p:nvSpPr>
        <p:spPr>
          <a:xfrm>
            <a:off x="8732520" y="3767328"/>
            <a:ext cx="2907792" cy="868680"/>
          </a:xfrm>
          <a:prstGeom prst="rect">
            <a:avLst/>
          </a:prstGeom>
          <a:noFill/>
          <a:ln/>
        </p:spPr>
        <p:txBody>
          <a:bodyPr wrap="square" lIns="0" tIns="0" rIns="0" bIns="0" rtlCol="0" anchor="t"/>
          <a:lstStyle/>
          <a:p>
            <a:pPr indent="0" marL="0">
              <a:spcAft>
                <a:spcPts val="200"/>
              </a:spcAft>
              <a:buNone/>
            </a:pPr>
            <a:r>
              <a:rPr lang="en-US" sz="1600" b="1" dirty="0">
                <a:solidFill>
                  <a:srgbClr val="0F172A"/>
                </a:solidFill>
                <a:latin typeface="Inter" pitchFamily="34" charset="0"/>
                <a:ea typeface="Inter" pitchFamily="34" charset="-122"/>
                <a:cs typeface="Inter" pitchFamily="34" charset="-120"/>
              </a:rPr>
              <a:t>statuts</a:t>
            </a:r>
            <a:endParaRPr lang="en-US" sz="1600" dirty="0"/>
          </a:p>
          <a:p>
            <a:pPr indent="0" marL="0">
              <a:spcAft>
                <a:spcPts val="200"/>
              </a:spcAft>
              <a:buNone/>
            </a:pPr>
            <a:r>
              <a:rPr lang="en-US" sz="1300" dirty="0">
                <a:solidFill>
                  <a:srgbClr val="475569"/>
                </a:solidFill>
                <a:latin typeface="Inter" pitchFamily="34" charset="0"/>
                <a:ea typeface="Inter" pitchFamily="34" charset="-122"/>
                <a:cs typeface="Inter" pitchFamily="34" charset="-120"/>
              </a:rPr>
              <a:t>Un cycle de vie unique pour chaque intervention</a:t>
            </a:r>
            <a:endParaRPr lang="en-US" sz="1600" dirty="0"/>
          </a:p>
        </p:txBody>
      </p:sp>
      <p:sp>
        <p:nvSpPr>
          <p:cNvPr id="16" name="Shape 12"/>
          <p:cNvSpPr/>
          <p:nvPr/>
        </p:nvSpPr>
        <p:spPr>
          <a:xfrm>
            <a:off x="548640" y="5120640"/>
            <a:ext cx="11094415" cy="1143000"/>
          </a:xfrm>
          <a:prstGeom prst="roundRect">
            <a:avLst>
              <a:gd name="adj" fmla="val 9600"/>
            </a:avLst>
          </a:prstGeom>
          <a:solidFill>
            <a:srgbClr val="F1F5F9"/>
          </a:solidFill>
          <a:ln w="12700">
            <a:solidFill>
              <a:srgbClr val="F1F5F9"/>
            </a:solidFill>
            <a:prstDash val="solid"/>
          </a:ln>
        </p:spPr>
      </p:sp>
      <p:sp>
        <p:nvSpPr>
          <p:cNvPr id="17" name="Text 13"/>
          <p:cNvSpPr txBox="1"/>
          <p:nvPr/>
        </p:nvSpPr>
        <p:spPr>
          <a:xfrm>
            <a:off x="868680" y="5120640"/>
            <a:ext cx="2377440" cy="1143000"/>
          </a:xfrm>
          <a:prstGeom prst="rect">
            <a:avLst/>
          </a:prstGeom>
          <a:noFill/>
          <a:ln/>
        </p:spPr>
        <p:txBody>
          <a:bodyPr wrap="square" lIns="0" tIns="0" rIns="0" bIns="0" rtlCol="0" anchor="ctr"/>
          <a:lstStyle/>
          <a:p>
            <a:pPr indent="0" marL="0">
              <a:buNone/>
            </a:pPr>
            <a:r>
              <a:rPr lang="en-US" sz="1200" b="1" spc="200" kern="0" dirty="0">
                <a:solidFill>
                  <a:srgbClr val="64748B"/>
                </a:solidFill>
                <a:latin typeface="Inter" pitchFamily="34" charset="0"/>
                <a:ea typeface="Inter" pitchFamily="34" charset="-122"/>
                <a:cs typeface="Inter" pitchFamily="34" charset="-120"/>
              </a:rPr>
              <a:t>CYCLE DE VIE</a:t>
            </a:r>
            <a:endParaRPr lang="en-US" sz="1200" dirty="0"/>
          </a:p>
          <a:p>
            <a:pPr indent="0" marL="0">
              <a:buNone/>
            </a:pPr>
            <a:r>
              <a:rPr lang="en-US" sz="1200" b="1" spc="200" kern="0" dirty="0">
                <a:solidFill>
                  <a:srgbClr val="64748B"/>
                </a:solidFill>
                <a:latin typeface="Inter" pitchFamily="34" charset="0"/>
                <a:ea typeface="Inter" pitchFamily="34" charset="-122"/>
                <a:cs typeface="Inter" pitchFamily="34" charset="-120"/>
              </a:rPr>
              <a:t>D’UNE INTERVENTION</a:t>
            </a:r>
            <a:endParaRPr lang="en-US" sz="1200" dirty="0"/>
          </a:p>
        </p:txBody>
      </p:sp>
      <p:sp>
        <p:nvSpPr>
          <p:cNvPr id="18" name="Shape 14"/>
          <p:cNvSpPr/>
          <p:nvPr/>
        </p:nvSpPr>
        <p:spPr>
          <a:xfrm>
            <a:off x="3291840" y="5440680"/>
            <a:ext cx="1783080" cy="502920"/>
          </a:xfrm>
          <a:prstGeom prst="roundRect">
            <a:avLst>
              <a:gd name="adj" fmla="val 49091"/>
            </a:avLst>
          </a:prstGeom>
          <a:solidFill>
            <a:srgbClr val="64748B"/>
          </a:solidFill>
          <a:ln w="12700">
            <a:solidFill>
              <a:srgbClr val="64748B"/>
            </a:solidFill>
            <a:prstDash val="solid"/>
          </a:ln>
        </p:spPr>
      </p:sp>
      <p:sp>
        <p:nvSpPr>
          <p:cNvPr id="19" name="Text 15"/>
          <p:cNvSpPr txBox="1"/>
          <p:nvPr/>
        </p:nvSpPr>
        <p:spPr>
          <a:xfrm>
            <a:off x="3291840" y="5440680"/>
            <a:ext cx="17830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En attente</a:t>
            </a:r>
            <a:endParaRPr lang="en-US" sz="1500" dirty="0"/>
          </a:p>
        </p:txBody>
      </p:sp>
      <p:sp>
        <p:nvSpPr>
          <p:cNvPr id="20" name="Text 16"/>
          <p:cNvSpPr txBox="1"/>
          <p:nvPr/>
        </p:nvSpPr>
        <p:spPr>
          <a:xfrm>
            <a:off x="5074920" y="5440680"/>
            <a:ext cx="411480" cy="502920"/>
          </a:xfrm>
          <a:prstGeom prst="rect">
            <a:avLst/>
          </a:prstGeom>
          <a:noFill/>
          <a:ln/>
        </p:spPr>
        <p:txBody>
          <a:bodyPr wrap="square" lIns="0" tIns="0" rIns="0" bIns="0" rtlCol="0" anchor="ctr"/>
          <a:lstStyle/>
          <a:p>
            <a:pPr algn="ctr" indent="0" marL="0">
              <a:buNone/>
            </a:pPr>
            <a:r>
              <a:rPr lang="en-US" sz="1800" b="1" dirty="0">
                <a:solidFill>
                  <a:srgbClr val="64748B"/>
                </a:solidFill>
                <a:latin typeface="Inter" pitchFamily="34" charset="0"/>
                <a:ea typeface="Inter" pitchFamily="34" charset="-122"/>
                <a:cs typeface="Inter" pitchFamily="34" charset="-120"/>
              </a:rPr>
              <a:t>→</a:t>
            </a:r>
            <a:endParaRPr lang="en-US" sz="1800" dirty="0"/>
          </a:p>
        </p:txBody>
      </p:sp>
      <p:sp>
        <p:nvSpPr>
          <p:cNvPr id="21" name="Shape 17"/>
          <p:cNvSpPr/>
          <p:nvPr/>
        </p:nvSpPr>
        <p:spPr>
          <a:xfrm>
            <a:off x="5486400" y="5440680"/>
            <a:ext cx="1783080" cy="502920"/>
          </a:xfrm>
          <a:prstGeom prst="roundRect">
            <a:avLst>
              <a:gd name="adj" fmla="val 49091"/>
            </a:avLst>
          </a:prstGeom>
          <a:solidFill>
            <a:srgbClr val="2563EB"/>
          </a:solidFill>
          <a:ln w="12700">
            <a:solidFill>
              <a:srgbClr val="2563EB"/>
            </a:solidFill>
            <a:prstDash val="solid"/>
          </a:ln>
        </p:spPr>
      </p:sp>
      <p:sp>
        <p:nvSpPr>
          <p:cNvPr id="22" name="Text 18"/>
          <p:cNvSpPr txBox="1"/>
          <p:nvPr/>
        </p:nvSpPr>
        <p:spPr>
          <a:xfrm>
            <a:off x="5486400" y="5440680"/>
            <a:ext cx="17830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Affectée</a:t>
            </a:r>
            <a:endParaRPr lang="en-US" sz="1500" dirty="0"/>
          </a:p>
        </p:txBody>
      </p:sp>
      <p:sp>
        <p:nvSpPr>
          <p:cNvPr id="23" name="Text 19"/>
          <p:cNvSpPr txBox="1"/>
          <p:nvPr/>
        </p:nvSpPr>
        <p:spPr>
          <a:xfrm>
            <a:off x="7269480" y="5440680"/>
            <a:ext cx="411480" cy="502920"/>
          </a:xfrm>
          <a:prstGeom prst="rect">
            <a:avLst/>
          </a:prstGeom>
          <a:noFill/>
          <a:ln/>
        </p:spPr>
        <p:txBody>
          <a:bodyPr wrap="square" lIns="0" tIns="0" rIns="0" bIns="0" rtlCol="0" anchor="ctr"/>
          <a:lstStyle/>
          <a:p>
            <a:pPr algn="ctr" indent="0" marL="0">
              <a:buNone/>
            </a:pPr>
            <a:r>
              <a:rPr lang="en-US" sz="1800" b="1" dirty="0">
                <a:solidFill>
                  <a:srgbClr val="64748B"/>
                </a:solidFill>
                <a:latin typeface="Inter" pitchFamily="34" charset="0"/>
                <a:ea typeface="Inter" pitchFamily="34" charset="-122"/>
                <a:cs typeface="Inter" pitchFamily="34" charset="-120"/>
              </a:rPr>
              <a:t>→</a:t>
            </a:r>
            <a:endParaRPr lang="en-US" sz="1800" dirty="0"/>
          </a:p>
        </p:txBody>
      </p:sp>
      <p:sp>
        <p:nvSpPr>
          <p:cNvPr id="24" name="Shape 20"/>
          <p:cNvSpPr/>
          <p:nvPr/>
        </p:nvSpPr>
        <p:spPr>
          <a:xfrm>
            <a:off x="7680960" y="5440680"/>
            <a:ext cx="1783080" cy="502920"/>
          </a:xfrm>
          <a:prstGeom prst="roundRect">
            <a:avLst>
              <a:gd name="adj" fmla="val 49091"/>
            </a:avLst>
          </a:prstGeom>
          <a:solidFill>
            <a:srgbClr val="D97706"/>
          </a:solidFill>
          <a:ln w="12700">
            <a:solidFill>
              <a:srgbClr val="D97706"/>
            </a:solidFill>
            <a:prstDash val="solid"/>
          </a:ln>
        </p:spPr>
      </p:sp>
      <p:sp>
        <p:nvSpPr>
          <p:cNvPr id="25" name="Text 21"/>
          <p:cNvSpPr txBox="1"/>
          <p:nvPr/>
        </p:nvSpPr>
        <p:spPr>
          <a:xfrm>
            <a:off x="7680960" y="5440680"/>
            <a:ext cx="17830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En cours</a:t>
            </a:r>
            <a:endParaRPr lang="en-US" sz="1500" dirty="0"/>
          </a:p>
        </p:txBody>
      </p:sp>
      <p:sp>
        <p:nvSpPr>
          <p:cNvPr id="26" name="Text 22"/>
          <p:cNvSpPr txBox="1"/>
          <p:nvPr/>
        </p:nvSpPr>
        <p:spPr>
          <a:xfrm>
            <a:off x="9464040" y="5440680"/>
            <a:ext cx="411480" cy="502920"/>
          </a:xfrm>
          <a:prstGeom prst="rect">
            <a:avLst/>
          </a:prstGeom>
          <a:noFill/>
          <a:ln/>
        </p:spPr>
        <p:txBody>
          <a:bodyPr wrap="square" lIns="0" tIns="0" rIns="0" bIns="0" rtlCol="0" anchor="ctr"/>
          <a:lstStyle/>
          <a:p>
            <a:pPr algn="ctr" indent="0" marL="0">
              <a:buNone/>
            </a:pPr>
            <a:r>
              <a:rPr lang="en-US" sz="1800" b="1" dirty="0">
                <a:solidFill>
                  <a:srgbClr val="64748B"/>
                </a:solidFill>
                <a:latin typeface="Inter" pitchFamily="34" charset="0"/>
                <a:ea typeface="Inter" pitchFamily="34" charset="-122"/>
                <a:cs typeface="Inter" pitchFamily="34" charset="-120"/>
              </a:rPr>
              <a:t>→</a:t>
            </a:r>
            <a:endParaRPr lang="en-US" sz="1800" dirty="0"/>
          </a:p>
        </p:txBody>
      </p:sp>
      <p:sp>
        <p:nvSpPr>
          <p:cNvPr id="27" name="Shape 23"/>
          <p:cNvSpPr/>
          <p:nvPr/>
        </p:nvSpPr>
        <p:spPr>
          <a:xfrm>
            <a:off x="9875520" y="5440680"/>
            <a:ext cx="1783080" cy="502920"/>
          </a:xfrm>
          <a:prstGeom prst="roundRect">
            <a:avLst>
              <a:gd name="adj" fmla="val 49091"/>
            </a:avLst>
          </a:prstGeom>
          <a:solidFill>
            <a:srgbClr val="16A34A"/>
          </a:solidFill>
          <a:ln w="12700">
            <a:solidFill>
              <a:srgbClr val="16A34A"/>
            </a:solidFill>
            <a:prstDash val="solid"/>
          </a:ln>
        </p:spPr>
      </p:sp>
      <p:sp>
        <p:nvSpPr>
          <p:cNvPr id="28" name="Text 24"/>
          <p:cNvSpPr txBox="1"/>
          <p:nvPr/>
        </p:nvSpPr>
        <p:spPr>
          <a:xfrm>
            <a:off x="9875520" y="5440680"/>
            <a:ext cx="17830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Terminée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Inter" pitchFamily="34" charset="0"/>
                <a:ea typeface="Inter" pitchFamily="34" charset="-122"/>
                <a:cs typeface="Inter" pitchFamily="34" charset="-120"/>
              </a:rPr>
              <a:t>06  ·  DÉMONSTRATION</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0F172A"/>
                </a:solidFill>
                <a:latin typeface="Inter" pitchFamily="34" charset="0"/>
                <a:ea typeface="Inter" pitchFamily="34" charset="-122"/>
                <a:cs typeface="Inter" pitchFamily="34" charset="-120"/>
              </a:rPr>
              <a:t>De la demande à l’affectation</a:t>
            </a:r>
            <a:endParaRPr lang="en-US" sz="3400" dirty="0"/>
          </a:p>
        </p:txBody>
      </p:sp>
      <p:sp>
        <p:nvSpPr>
          <p:cNvPr id="4" name="Shape 2"/>
          <p:cNvSpPr/>
          <p:nvPr/>
        </p:nvSpPr>
        <p:spPr>
          <a:xfrm>
            <a:off x="548640" y="1645920"/>
            <a:ext cx="5394960" cy="3579876"/>
          </a:xfrm>
          <a:prstGeom prst="roundRect">
            <a:avLst>
              <a:gd name="adj" fmla="val 2043"/>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sp>
        <p:nvSpPr>
          <p:cNvPr id="5" name="Shape 3"/>
          <p:cNvSpPr/>
          <p:nvPr/>
        </p:nvSpPr>
        <p:spPr>
          <a:xfrm>
            <a:off x="667512" y="1714500"/>
            <a:ext cx="82296" cy="82296"/>
          </a:xfrm>
          <a:prstGeom prst="ellipse">
            <a:avLst/>
          </a:prstGeom>
          <a:solidFill>
            <a:srgbClr val="F87171"/>
          </a:solidFill>
          <a:ln w="12700">
            <a:solidFill>
              <a:srgbClr val="F87171"/>
            </a:solidFill>
            <a:prstDash val="solid"/>
          </a:ln>
        </p:spPr>
      </p:sp>
      <p:sp>
        <p:nvSpPr>
          <p:cNvPr id="6" name="Shape 4"/>
          <p:cNvSpPr/>
          <p:nvPr/>
        </p:nvSpPr>
        <p:spPr>
          <a:xfrm>
            <a:off x="804672" y="1714500"/>
            <a:ext cx="82296" cy="82296"/>
          </a:xfrm>
          <a:prstGeom prst="ellipse">
            <a:avLst/>
          </a:prstGeom>
          <a:solidFill>
            <a:srgbClr val="FBBF24"/>
          </a:solidFill>
          <a:ln w="12700">
            <a:solidFill>
              <a:srgbClr val="FBBF24"/>
            </a:solidFill>
            <a:prstDash val="solid"/>
          </a:ln>
        </p:spPr>
      </p:sp>
      <p:sp>
        <p:nvSpPr>
          <p:cNvPr id="7" name="Shape 5"/>
          <p:cNvSpPr/>
          <p:nvPr/>
        </p:nvSpPr>
        <p:spPr>
          <a:xfrm>
            <a:off x="941832" y="1714500"/>
            <a:ext cx="82296" cy="82296"/>
          </a:xfrm>
          <a:prstGeom prst="ellipse">
            <a:avLst/>
          </a:prstGeom>
          <a:solidFill>
            <a:srgbClr val="4ADE80"/>
          </a:solidFill>
          <a:ln w="12700">
            <a:solidFill>
              <a:srgbClr val="4ADE80"/>
            </a:solidFill>
            <a:prstDash val="solid"/>
          </a:ln>
        </p:spPr>
      </p:sp>
      <p:pic>
        <p:nvPicPr>
          <p:cNvPr id="8" name="Image 0" descr="img/client.jpg">    </p:cNvPr>
          <p:cNvPicPr>
            <a:picLocks noChangeAspect="1"/>
          </p:cNvPicPr>
          <p:nvPr/>
        </p:nvPicPr>
        <p:blipFill>
          <a:blip r:embed="rId1"/>
          <a:stretch>
            <a:fillRect/>
          </a:stretch>
        </p:blipFill>
        <p:spPr>
          <a:xfrm>
            <a:off x="594360" y="1865376"/>
            <a:ext cx="5303520" cy="3314700"/>
          </a:xfrm>
          <a:prstGeom prst="rect">
            <a:avLst/>
          </a:prstGeom>
        </p:spPr>
      </p:pic>
      <p:sp>
        <p:nvSpPr>
          <p:cNvPr id="9" name="Shape 6"/>
          <p:cNvSpPr/>
          <p:nvPr/>
        </p:nvSpPr>
        <p:spPr>
          <a:xfrm>
            <a:off x="393192" y="1490472"/>
            <a:ext cx="512064" cy="512064"/>
          </a:xfrm>
          <a:prstGeom prst="ellipse">
            <a:avLst/>
          </a:prstGeom>
          <a:solidFill>
            <a:srgbClr val="2563EB"/>
          </a:solidFill>
          <a:ln w="31750">
            <a:solidFill>
              <a:srgbClr val="FFFFFF"/>
            </a:solidFill>
            <a:prstDash val="solid"/>
          </a:ln>
        </p:spPr>
      </p:sp>
      <p:sp>
        <p:nvSpPr>
          <p:cNvPr id="10" name="Text 7"/>
          <p:cNvSpPr txBox="1"/>
          <p:nvPr/>
        </p:nvSpPr>
        <p:spPr>
          <a:xfrm>
            <a:off x="393192" y="149047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1</a:t>
            </a:r>
            <a:endParaRPr lang="en-US" sz="1800" dirty="0"/>
          </a:p>
        </p:txBody>
      </p:sp>
      <p:sp>
        <p:nvSpPr>
          <p:cNvPr id="11" name="Text 8"/>
          <p:cNvSpPr txBox="1"/>
          <p:nvPr/>
        </p:nvSpPr>
        <p:spPr>
          <a:xfrm>
            <a:off x="548640" y="5440680"/>
            <a:ext cx="5394960" cy="86868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Le client décrit sa panne</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L’assistant IA rédige la description ; la date souhaitée doit être postérieure à aujourd’hui.</a:t>
            </a:r>
            <a:endParaRPr lang="en-US" sz="1800" dirty="0"/>
          </a:p>
        </p:txBody>
      </p:sp>
      <p:sp>
        <p:nvSpPr>
          <p:cNvPr id="12" name="Shape 9"/>
          <p:cNvSpPr/>
          <p:nvPr/>
        </p:nvSpPr>
        <p:spPr>
          <a:xfrm>
            <a:off x="6245352" y="1645920"/>
            <a:ext cx="5394960" cy="3579876"/>
          </a:xfrm>
          <a:prstGeom prst="roundRect">
            <a:avLst>
              <a:gd name="adj" fmla="val 2043"/>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sp>
        <p:nvSpPr>
          <p:cNvPr id="13" name="Shape 10"/>
          <p:cNvSpPr/>
          <p:nvPr/>
        </p:nvSpPr>
        <p:spPr>
          <a:xfrm>
            <a:off x="6364224" y="1714500"/>
            <a:ext cx="82296" cy="82296"/>
          </a:xfrm>
          <a:prstGeom prst="ellipse">
            <a:avLst/>
          </a:prstGeom>
          <a:solidFill>
            <a:srgbClr val="F87171"/>
          </a:solidFill>
          <a:ln w="12700">
            <a:solidFill>
              <a:srgbClr val="F87171"/>
            </a:solidFill>
            <a:prstDash val="solid"/>
          </a:ln>
        </p:spPr>
      </p:sp>
      <p:sp>
        <p:nvSpPr>
          <p:cNvPr id="14" name="Shape 11"/>
          <p:cNvSpPr/>
          <p:nvPr/>
        </p:nvSpPr>
        <p:spPr>
          <a:xfrm>
            <a:off x="6501384" y="1714500"/>
            <a:ext cx="82296" cy="82296"/>
          </a:xfrm>
          <a:prstGeom prst="ellipse">
            <a:avLst/>
          </a:prstGeom>
          <a:solidFill>
            <a:srgbClr val="FBBF24"/>
          </a:solidFill>
          <a:ln w="12700">
            <a:solidFill>
              <a:srgbClr val="FBBF24"/>
            </a:solidFill>
            <a:prstDash val="solid"/>
          </a:ln>
        </p:spPr>
      </p:sp>
      <p:sp>
        <p:nvSpPr>
          <p:cNvPr id="15" name="Shape 12"/>
          <p:cNvSpPr/>
          <p:nvPr/>
        </p:nvSpPr>
        <p:spPr>
          <a:xfrm>
            <a:off x="6638544" y="1714500"/>
            <a:ext cx="82296" cy="82296"/>
          </a:xfrm>
          <a:prstGeom prst="ellipse">
            <a:avLst/>
          </a:prstGeom>
          <a:solidFill>
            <a:srgbClr val="4ADE80"/>
          </a:solidFill>
          <a:ln w="12700">
            <a:solidFill>
              <a:srgbClr val="4ADE80"/>
            </a:solidFill>
            <a:prstDash val="solid"/>
          </a:ln>
        </p:spPr>
      </p:sp>
      <p:pic>
        <p:nvPicPr>
          <p:cNvPr id="16" name="Image 1" descr="img/affectation.jpg">    </p:cNvPr>
          <p:cNvPicPr>
            <a:picLocks noChangeAspect="1"/>
          </p:cNvPicPr>
          <p:nvPr/>
        </p:nvPicPr>
        <p:blipFill>
          <a:blip r:embed="rId2"/>
          <a:stretch>
            <a:fillRect/>
          </a:stretch>
        </p:blipFill>
        <p:spPr>
          <a:xfrm>
            <a:off x="6291072" y="1865376"/>
            <a:ext cx="5303520" cy="3314700"/>
          </a:xfrm>
          <a:prstGeom prst="rect">
            <a:avLst/>
          </a:prstGeom>
        </p:spPr>
      </p:pic>
      <p:sp>
        <p:nvSpPr>
          <p:cNvPr id="17" name="Shape 13"/>
          <p:cNvSpPr/>
          <p:nvPr/>
        </p:nvSpPr>
        <p:spPr>
          <a:xfrm>
            <a:off x="6089904" y="1490472"/>
            <a:ext cx="512064" cy="512064"/>
          </a:xfrm>
          <a:prstGeom prst="ellipse">
            <a:avLst/>
          </a:prstGeom>
          <a:solidFill>
            <a:srgbClr val="D97706"/>
          </a:solidFill>
          <a:ln w="31750">
            <a:solidFill>
              <a:srgbClr val="FFFFFF"/>
            </a:solidFill>
            <a:prstDash val="solid"/>
          </a:ln>
        </p:spPr>
      </p:sp>
      <p:sp>
        <p:nvSpPr>
          <p:cNvPr id="18" name="Text 14"/>
          <p:cNvSpPr txBox="1"/>
          <p:nvPr/>
        </p:nvSpPr>
        <p:spPr>
          <a:xfrm>
            <a:off x="6089904" y="149047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2</a:t>
            </a:r>
            <a:endParaRPr lang="en-US" sz="1800" dirty="0"/>
          </a:p>
        </p:txBody>
      </p:sp>
      <p:sp>
        <p:nvSpPr>
          <p:cNvPr id="19" name="Text 15"/>
          <p:cNvSpPr txBox="1"/>
          <p:nvPr/>
        </p:nvSpPr>
        <p:spPr>
          <a:xfrm>
            <a:off x="6245352" y="5440680"/>
            <a:ext cx="5394960" cy="86868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Le responsable affecte un technicien</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En un clic ; le technicien est aussitôt notifié par email.</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Inter" pitchFamily="34" charset="0"/>
                <a:ea typeface="Inter" pitchFamily="34" charset="-122"/>
                <a:cs typeface="Inter" pitchFamily="34" charset="-120"/>
              </a:rPr>
              <a:t>07  ·  DÉMONSTRATION</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0F172A"/>
                </a:solidFill>
                <a:latin typeface="Inter" pitchFamily="34" charset="0"/>
                <a:ea typeface="Inter" pitchFamily="34" charset="-122"/>
                <a:cs typeface="Inter" pitchFamily="34" charset="-120"/>
              </a:rPr>
              <a:t>Sur le terrain, en temps réel</a:t>
            </a:r>
            <a:endParaRPr lang="en-US" sz="3400" dirty="0"/>
          </a:p>
        </p:txBody>
      </p:sp>
      <p:sp>
        <p:nvSpPr>
          <p:cNvPr id="4" name="Shape 2"/>
          <p:cNvSpPr/>
          <p:nvPr/>
        </p:nvSpPr>
        <p:spPr>
          <a:xfrm>
            <a:off x="548640" y="1645920"/>
            <a:ext cx="6675120" cy="4379976"/>
          </a:xfrm>
          <a:prstGeom prst="roundRect">
            <a:avLst>
              <a:gd name="adj" fmla="val 1670"/>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sp>
        <p:nvSpPr>
          <p:cNvPr id="5" name="Shape 3"/>
          <p:cNvSpPr/>
          <p:nvPr/>
        </p:nvSpPr>
        <p:spPr>
          <a:xfrm>
            <a:off x="667512" y="1714500"/>
            <a:ext cx="82296" cy="82296"/>
          </a:xfrm>
          <a:prstGeom prst="ellipse">
            <a:avLst/>
          </a:prstGeom>
          <a:solidFill>
            <a:srgbClr val="F87171"/>
          </a:solidFill>
          <a:ln w="12700">
            <a:solidFill>
              <a:srgbClr val="F87171"/>
            </a:solidFill>
            <a:prstDash val="solid"/>
          </a:ln>
        </p:spPr>
      </p:sp>
      <p:sp>
        <p:nvSpPr>
          <p:cNvPr id="6" name="Shape 4"/>
          <p:cNvSpPr/>
          <p:nvPr/>
        </p:nvSpPr>
        <p:spPr>
          <a:xfrm>
            <a:off x="804672" y="1714500"/>
            <a:ext cx="82296" cy="82296"/>
          </a:xfrm>
          <a:prstGeom prst="ellipse">
            <a:avLst/>
          </a:prstGeom>
          <a:solidFill>
            <a:srgbClr val="FBBF24"/>
          </a:solidFill>
          <a:ln w="12700">
            <a:solidFill>
              <a:srgbClr val="FBBF24"/>
            </a:solidFill>
            <a:prstDash val="solid"/>
          </a:ln>
        </p:spPr>
      </p:sp>
      <p:sp>
        <p:nvSpPr>
          <p:cNvPr id="7" name="Shape 5"/>
          <p:cNvSpPr/>
          <p:nvPr/>
        </p:nvSpPr>
        <p:spPr>
          <a:xfrm>
            <a:off x="941832" y="1714500"/>
            <a:ext cx="82296" cy="82296"/>
          </a:xfrm>
          <a:prstGeom prst="ellipse">
            <a:avLst/>
          </a:prstGeom>
          <a:solidFill>
            <a:srgbClr val="4ADE80"/>
          </a:solidFill>
          <a:ln w="12700">
            <a:solidFill>
              <a:srgbClr val="4ADE80"/>
            </a:solidFill>
            <a:prstDash val="solid"/>
          </a:ln>
        </p:spPr>
      </p:sp>
      <p:pic>
        <p:nvPicPr>
          <p:cNvPr id="8" name="Image 0" descr="img/tech.jpg">    </p:cNvPr>
          <p:cNvPicPr>
            <a:picLocks noChangeAspect="1"/>
          </p:cNvPicPr>
          <p:nvPr/>
        </p:nvPicPr>
        <p:blipFill>
          <a:blip r:embed="rId1"/>
          <a:stretch>
            <a:fillRect/>
          </a:stretch>
        </p:blipFill>
        <p:spPr>
          <a:xfrm>
            <a:off x="594360" y="1865376"/>
            <a:ext cx="6583680" cy="4114800"/>
          </a:xfrm>
          <a:prstGeom prst="rect">
            <a:avLst/>
          </a:prstGeom>
        </p:spPr>
      </p:pic>
      <p:sp>
        <p:nvSpPr>
          <p:cNvPr id="9" name="Shape 6"/>
          <p:cNvSpPr/>
          <p:nvPr/>
        </p:nvSpPr>
        <p:spPr>
          <a:xfrm>
            <a:off x="7635240" y="1783080"/>
            <a:ext cx="685800" cy="685800"/>
          </a:xfrm>
          <a:prstGeom prst="roundRect">
            <a:avLst>
              <a:gd name="adj" fmla="val 18667"/>
            </a:avLst>
          </a:prstGeom>
          <a:solidFill>
            <a:srgbClr val="DCFCE7"/>
          </a:solidFill>
          <a:ln w="12700">
            <a:solidFill>
              <a:srgbClr val="DCFCE7"/>
            </a:solidFill>
            <a:prstDash val="solid"/>
          </a:ln>
        </p:spPr>
      </p:sp>
      <p:pic>
        <p:nvPicPr>
          <p:cNvPr id="10" name="Image 1" descr="preencoded.png">    </p:cNvPr>
          <p:cNvPicPr>
            <a:picLocks noChangeAspect="1"/>
          </p:cNvPicPr>
          <p:nvPr/>
        </p:nvPicPr>
        <p:blipFill>
          <a:blip r:embed="rId2"/>
          <a:stretch>
            <a:fillRect/>
          </a:stretch>
        </p:blipFill>
        <p:spPr>
          <a:xfrm>
            <a:off x="7813548" y="1961388"/>
            <a:ext cx="329184" cy="329184"/>
          </a:xfrm>
          <a:prstGeom prst="rect">
            <a:avLst/>
          </a:prstGeom>
        </p:spPr>
      </p:pic>
      <p:sp>
        <p:nvSpPr>
          <p:cNvPr id="11" name="Text 7"/>
          <p:cNvSpPr txBox="1"/>
          <p:nvPr/>
        </p:nvSpPr>
        <p:spPr>
          <a:xfrm>
            <a:off x="8503920" y="1783080"/>
            <a:ext cx="3136392" cy="118872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Position partagée en direct</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Transmise par WebSocket ; le responsable suit l’équipe sur une carte.</a:t>
            </a:r>
            <a:endParaRPr lang="en-US" sz="1800" dirty="0"/>
          </a:p>
        </p:txBody>
      </p:sp>
      <p:sp>
        <p:nvSpPr>
          <p:cNvPr id="12" name="Shape 8"/>
          <p:cNvSpPr/>
          <p:nvPr/>
        </p:nvSpPr>
        <p:spPr>
          <a:xfrm>
            <a:off x="7635240" y="3154680"/>
            <a:ext cx="685800" cy="685800"/>
          </a:xfrm>
          <a:prstGeom prst="roundRect">
            <a:avLst>
              <a:gd name="adj" fmla="val 18667"/>
            </a:avLst>
          </a:prstGeom>
          <a:solidFill>
            <a:srgbClr val="DBEAFE"/>
          </a:solidFill>
          <a:ln w="12700">
            <a:solidFill>
              <a:srgbClr val="DBEAFE"/>
            </a:solidFill>
            <a:prstDash val="solid"/>
          </a:ln>
        </p:spPr>
      </p:sp>
      <p:pic>
        <p:nvPicPr>
          <p:cNvPr id="13" name="Image 2" descr="preencoded.png">    </p:cNvPr>
          <p:cNvPicPr>
            <a:picLocks noChangeAspect="1"/>
          </p:cNvPicPr>
          <p:nvPr/>
        </p:nvPicPr>
        <p:blipFill>
          <a:blip r:embed="rId3"/>
          <a:stretch>
            <a:fillRect/>
          </a:stretch>
        </p:blipFill>
        <p:spPr>
          <a:xfrm>
            <a:off x="7813548" y="3332988"/>
            <a:ext cx="329184" cy="329184"/>
          </a:xfrm>
          <a:prstGeom prst="rect">
            <a:avLst/>
          </a:prstGeom>
        </p:spPr>
      </p:pic>
      <p:sp>
        <p:nvSpPr>
          <p:cNvPr id="14" name="Text 9"/>
          <p:cNvSpPr txBox="1"/>
          <p:nvPr/>
        </p:nvSpPr>
        <p:spPr>
          <a:xfrm>
            <a:off x="8503920" y="3154680"/>
            <a:ext cx="3136392" cy="118872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Photos avant / après</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Rattachées à l’intervention et reprises dans le rapport PDF.</a:t>
            </a:r>
            <a:endParaRPr lang="en-US" sz="1800" dirty="0"/>
          </a:p>
        </p:txBody>
      </p:sp>
      <p:sp>
        <p:nvSpPr>
          <p:cNvPr id="15" name="Shape 10"/>
          <p:cNvSpPr/>
          <p:nvPr/>
        </p:nvSpPr>
        <p:spPr>
          <a:xfrm>
            <a:off x="7635240" y="4526280"/>
            <a:ext cx="685800" cy="685800"/>
          </a:xfrm>
          <a:prstGeom prst="roundRect">
            <a:avLst>
              <a:gd name="adj" fmla="val 18667"/>
            </a:avLst>
          </a:prstGeom>
          <a:solidFill>
            <a:srgbClr val="FEF3C7"/>
          </a:solidFill>
          <a:ln w="12700">
            <a:solidFill>
              <a:srgbClr val="FEF3C7"/>
            </a:solidFill>
            <a:prstDash val="solid"/>
          </a:ln>
        </p:spPr>
      </p:sp>
      <p:pic>
        <p:nvPicPr>
          <p:cNvPr id="16" name="Image 3" descr="preencoded.png">    </p:cNvPr>
          <p:cNvPicPr>
            <a:picLocks noChangeAspect="1"/>
          </p:cNvPicPr>
          <p:nvPr/>
        </p:nvPicPr>
        <p:blipFill>
          <a:blip r:embed="rId4"/>
          <a:stretch>
            <a:fillRect/>
          </a:stretch>
        </p:blipFill>
        <p:spPr>
          <a:xfrm>
            <a:off x="7813548" y="4704588"/>
            <a:ext cx="329184" cy="329184"/>
          </a:xfrm>
          <a:prstGeom prst="rect">
            <a:avLst/>
          </a:prstGeom>
        </p:spPr>
      </p:pic>
      <p:sp>
        <p:nvSpPr>
          <p:cNvPr id="17" name="Text 11"/>
          <p:cNvSpPr txBox="1"/>
          <p:nvPr/>
        </p:nvSpPr>
        <p:spPr>
          <a:xfrm>
            <a:off x="8503920" y="4526280"/>
            <a:ext cx="3136392" cy="1188720"/>
          </a:xfrm>
          <a:prstGeom prst="rect">
            <a:avLst/>
          </a:prstGeom>
          <a:noFill/>
          <a:ln/>
        </p:spPr>
        <p:txBody>
          <a:bodyPr wrap="square" lIns="0" tIns="0" rIns="0" bIns="0" rtlCol="0" anchor="t"/>
          <a:lstStyle/>
          <a:p>
            <a:pPr indent="0" marL="0">
              <a:spcAft>
                <a:spcPts val="300"/>
              </a:spcAft>
              <a:buNone/>
            </a:pPr>
            <a:r>
              <a:rPr lang="en-US" sz="1800" b="1" dirty="0">
                <a:solidFill>
                  <a:srgbClr val="0F172A"/>
                </a:solidFill>
                <a:latin typeface="Inter" pitchFamily="34" charset="0"/>
                <a:ea typeface="Inter" pitchFamily="34" charset="-122"/>
                <a:cs typeface="Inter" pitchFamily="34" charset="-120"/>
              </a:rPr>
              <a:t>Compte-rendu à la clôture</a:t>
            </a:r>
            <a:endParaRPr lang="en-US" sz="1800" dirty="0"/>
          </a:p>
          <a:p>
            <a:pPr indent="0" marL="0">
              <a:spcAft>
                <a:spcPts val="300"/>
              </a:spcAft>
              <a:buNone/>
            </a:pPr>
            <a:r>
              <a:rPr lang="en-US" sz="1400" dirty="0">
                <a:solidFill>
                  <a:srgbClr val="475569"/>
                </a:solidFill>
                <a:latin typeface="Inter" pitchFamily="34" charset="0"/>
                <a:ea typeface="Inter" pitchFamily="34" charset="-122"/>
                <a:cs typeface="Inter" pitchFamily="34" charset="-120"/>
              </a:rPr>
              <a:t>L’intervention passe à « Terminée » avec un historique complet.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Inter" pitchFamily="34" charset="0"/>
                <a:ea typeface="Inter" pitchFamily="34" charset="-122"/>
                <a:cs typeface="Inter" pitchFamily="34" charset="-120"/>
              </a:rPr>
              <a:t>08  ·  RÉSULTATS</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0F172A"/>
                </a:solidFill>
                <a:latin typeface="Inter" pitchFamily="34" charset="0"/>
                <a:ea typeface="Inter" pitchFamily="34" charset="-122"/>
                <a:cs typeface="Inter" pitchFamily="34" charset="-120"/>
              </a:rPr>
              <a:t>Clôturer, documenter, piloter</a:t>
            </a:r>
            <a:endParaRPr lang="en-US" sz="3400" dirty="0"/>
          </a:p>
        </p:txBody>
      </p:sp>
      <p:sp>
        <p:nvSpPr>
          <p:cNvPr id="4" name="Shape 2"/>
          <p:cNvSpPr/>
          <p:nvPr/>
        </p:nvSpPr>
        <p:spPr>
          <a:xfrm>
            <a:off x="548640" y="1645920"/>
            <a:ext cx="2514600" cy="3554730"/>
          </a:xfrm>
          <a:prstGeom prst="rect">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pic>
        <p:nvPicPr>
          <p:cNvPr id="5" name="Image 0" descr="img/pdf1.jpg">    </p:cNvPr>
          <p:cNvPicPr>
            <a:picLocks noChangeAspect="1"/>
          </p:cNvPicPr>
          <p:nvPr/>
        </p:nvPicPr>
        <p:blipFill>
          <a:blip r:embed="rId1"/>
          <a:stretch>
            <a:fillRect/>
          </a:stretch>
        </p:blipFill>
        <p:spPr>
          <a:xfrm>
            <a:off x="585216" y="1682496"/>
            <a:ext cx="2441448" cy="3481578"/>
          </a:xfrm>
          <a:prstGeom prst="rect">
            <a:avLst/>
          </a:prstGeom>
        </p:spPr>
      </p:pic>
      <p:sp>
        <p:nvSpPr>
          <p:cNvPr id="6" name="Shape 3"/>
          <p:cNvSpPr/>
          <p:nvPr/>
        </p:nvSpPr>
        <p:spPr>
          <a:xfrm>
            <a:off x="1965960" y="2011680"/>
            <a:ext cx="2514600" cy="3554730"/>
          </a:xfrm>
          <a:prstGeom prst="rect">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pic>
        <p:nvPicPr>
          <p:cNvPr id="7" name="Image 1" descr="img/pdf2.jpg">    </p:cNvPr>
          <p:cNvPicPr>
            <a:picLocks noChangeAspect="1"/>
          </p:cNvPicPr>
          <p:nvPr/>
        </p:nvPicPr>
        <p:blipFill>
          <a:blip r:embed="rId2"/>
          <a:stretch>
            <a:fillRect/>
          </a:stretch>
        </p:blipFill>
        <p:spPr>
          <a:xfrm>
            <a:off x="2002536" y="2048256"/>
            <a:ext cx="2441448" cy="3481578"/>
          </a:xfrm>
          <a:prstGeom prst="rect">
            <a:avLst/>
          </a:prstGeom>
        </p:spPr>
      </p:pic>
      <p:sp>
        <p:nvSpPr>
          <p:cNvPr id="8" name="Shape 4"/>
          <p:cNvSpPr/>
          <p:nvPr/>
        </p:nvSpPr>
        <p:spPr>
          <a:xfrm>
            <a:off x="5605272" y="1645920"/>
            <a:ext cx="6035040" cy="3979926"/>
          </a:xfrm>
          <a:prstGeom prst="roundRect">
            <a:avLst>
              <a:gd name="adj" fmla="val 1838"/>
            </a:avLst>
          </a:prstGeom>
          <a:solidFill>
            <a:srgbClr val="FFFFFF"/>
          </a:solidFill>
          <a:ln w="9525">
            <a:solidFill>
              <a:srgbClr val="E2E8F0"/>
            </a:solidFill>
            <a:prstDash val="solid"/>
          </a:ln>
          <a:effectLst>
            <a:outerShdw sx="100000" sy="100000" kx="0" ky="0" algn="bl" rotWithShape="0" blurRad="177800" dist="50800" dir="5400000">
              <a:srgbClr val="0F172A">
                <a:alpha val="16000"/>
              </a:srgbClr>
            </a:outerShdw>
          </a:effectLst>
        </p:spPr>
      </p:sp>
      <p:sp>
        <p:nvSpPr>
          <p:cNvPr id="9" name="Shape 5"/>
          <p:cNvSpPr/>
          <p:nvPr/>
        </p:nvSpPr>
        <p:spPr>
          <a:xfrm>
            <a:off x="5724144" y="1714500"/>
            <a:ext cx="82296" cy="82296"/>
          </a:xfrm>
          <a:prstGeom prst="ellipse">
            <a:avLst/>
          </a:prstGeom>
          <a:solidFill>
            <a:srgbClr val="F87171"/>
          </a:solidFill>
          <a:ln w="12700">
            <a:solidFill>
              <a:srgbClr val="F87171"/>
            </a:solidFill>
            <a:prstDash val="solid"/>
          </a:ln>
        </p:spPr>
      </p:sp>
      <p:sp>
        <p:nvSpPr>
          <p:cNvPr id="10" name="Shape 6"/>
          <p:cNvSpPr/>
          <p:nvPr/>
        </p:nvSpPr>
        <p:spPr>
          <a:xfrm>
            <a:off x="5861304" y="1714500"/>
            <a:ext cx="82296" cy="82296"/>
          </a:xfrm>
          <a:prstGeom prst="ellipse">
            <a:avLst/>
          </a:prstGeom>
          <a:solidFill>
            <a:srgbClr val="FBBF24"/>
          </a:solidFill>
          <a:ln w="12700">
            <a:solidFill>
              <a:srgbClr val="FBBF24"/>
            </a:solidFill>
            <a:prstDash val="solid"/>
          </a:ln>
        </p:spPr>
      </p:sp>
      <p:sp>
        <p:nvSpPr>
          <p:cNvPr id="11" name="Shape 7"/>
          <p:cNvSpPr/>
          <p:nvPr/>
        </p:nvSpPr>
        <p:spPr>
          <a:xfrm>
            <a:off x="5998464" y="1714500"/>
            <a:ext cx="82296" cy="82296"/>
          </a:xfrm>
          <a:prstGeom prst="ellipse">
            <a:avLst/>
          </a:prstGeom>
          <a:solidFill>
            <a:srgbClr val="4ADE80"/>
          </a:solidFill>
          <a:ln w="12700">
            <a:solidFill>
              <a:srgbClr val="4ADE80"/>
            </a:solidFill>
            <a:prstDash val="solid"/>
          </a:ln>
        </p:spPr>
      </p:sp>
      <p:pic>
        <p:nvPicPr>
          <p:cNvPr id="12" name="Image 2" descr="img/dash.jpg">    </p:cNvPr>
          <p:cNvPicPr>
            <a:picLocks noChangeAspect="1"/>
          </p:cNvPicPr>
          <p:nvPr/>
        </p:nvPicPr>
        <p:blipFill>
          <a:blip r:embed="rId3"/>
          <a:stretch>
            <a:fillRect/>
          </a:stretch>
        </p:blipFill>
        <p:spPr>
          <a:xfrm>
            <a:off x="5650992" y="1865376"/>
            <a:ext cx="5943600" cy="3714750"/>
          </a:xfrm>
          <a:prstGeom prst="rect">
            <a:avLst/>
          </a:prstGeom>
        </p:spPr>
      </p:pic>
      <p:sp>
        <p:nvSpPr>
          <p:cNvPr id="13" name="Text 8"/>
          <p:cNvSpPr txBox="1"/>
          <p:nvPr/>
        </p:nvSpPr>
        <p:spPr>
          <a:xfrm>
            <a:off x="548640" y="5760720"/>
            <a:ext cx="4206240" cy="594360"/>
          </a:xfrm>
          <a:prstGeom prst="rect">
            <a:avLst/>
          </a:prstGeom>
          <a:noFill/>
          <a:ln/>
        </p:spPr>
        <p:txBody>
          <a:bodyPr wrap="square" lIns="0" tIns="0" rIns="0" bIns="0" rtlCol="0" anchor="t"/>
          <a:lstStyle/>
          <a:p>
            <a:pPr indent="0" marL="0">
              <a:spcAft>
                <a:spcPts val="200"/>
              </a:spcAft>
              <a:buNone/>
            </a:pPr>
            <a:r>
              <a:rPr lang="en-US" sz="1600" b="1" dirty="0">
                <a:solidFill>
                  <a:srgbClr val="0F172A"/>
                </a:solidFill>
                <a:latin typeface="Inter" pitchFamily="34" charset="0"/>
                <a:ea typeface="Inter" pitchFamily="34" charset="-122"/>
                <a:cs typeface="Inter" pitchFamily="34" charset="-120"/>
              </a:rPr>
              <a:t>Rapport PDF automatique</a:t>
            </a:r>
            <a:endParaRPr lang="en-US" sz="1600" dirty="0"/>
          </a:p>
          <a:p>
            <a:pPr indent="0" marL="0">
              <a:spcAft>
                <a:spcPts val="200"/>
              </a:spcAft>
              <a:buNone/>
            </a:pPr>
            <a:r>
              <a:rPr lang="en-US" sz="1300" dirty="0">
                <a:solidFill>
                  <a:srgbClr val="475569"/>
                </a:solidFill>
                <a:latin typeface="Inter" pitchFamily="34" charset="0"/>
                <a:ea typeface="Inter" pitchFamily="34" charset="-122"/>
                <a:cs typeface="Inter" pitchFamily="34" charset="-120"/>
              </a:rPr>
              <a:t>Synthèse, chronologie, photos, avis, signatures</a:t>
            </a:r>
            <a:endParaRPr lang="en-US" sz="1600" dirty="0"/>
          </a:p>
        </p:txBody>
      </p:sp>
      <p:sp>
        <p:nvSpPr>
          <p:cNvPr id="14" name="Text 9"/>
          <p:cNvSpPr txBox="1"/>
          <p:nvPr/>
        </p:nvSpPr>
        <p:spPr>
          <a:xfrm>
            <a:off x="5605272" y="5760720"/>
            <a:ext cx="6035040" cy="594360"/>
          </a:xfrm>
          <a:prstGeom prst="rect">
            <a:avLst/>
          </a:prstGeom>
          <a:noFill/>
          <a:ln/>
        </p:spPr>
        <p:txBody>
          <a:bodyPr wrap="square" lIns="0" tIns="0" rIns="0" bIns="0" rtlCol="0" anchor="t"/>
          <a:lstStyle/>
          <a:p>
            <a:pPr indent="0" marL="0">
              <a:spcAft>
                <a:spcPts val="200"/>
              </a:spcAft>
              <a:buNone/>
            </a:pPr>
            <a:r>
              <a:rPr lang="en-US" sz="1600" b="1" dirty="0">
                <a:solidFill>
                  <a:srgbClr val="0F172A"/>
                </a:solidFill>
                <a:latin typeface="Inter" pitchFamily="34" charset="0"/>
                <a:ea typeface="Inter" pitchFamily="34" charset="-122"/>
                <a:cs typeface="Inter" pitchFamily="34" charset="-120"/>
              </a:rPr>
              <a:t>Un tableau de bord par rôle</a:t>
            </a:r>
            <a:endParaRPr lang="en-US" sz="1600" dirty="0"/>
          </a:p>
          <a:p>
            <a:pPr indent="0" marL="0">
              <a:spcAft>
                <a:spcPts val="200"/>
              </a:spcAft>
              <a:buNone/>
            </a:pPr>
            <a:r>
              <a:rPr lang="en-US" sz="1300" dirty="0">
                <a:solidFill>
                  <a:srgbClr val="475569"/>
                </a:solidFill>
                <a:latin typeface="Inter" pitchFamily="34" charset="0"/>
                <a:ea typeface="Inter" pitchFamily="34" charset="-122"/>
                <a:cs typeface="Inter" pitchFamily="34" charset="-120"/>
              </a:rPr>
              <a:t>Statuts, priorités, temps de résolution, satisfaction, charge des techniciens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Inter" pitchFamily="34" charset="0"/>
                <a:ea typeface="Inter" pitchFamily="34" charset="-122"/>
                <a:cs typeface="Inter" pitchFamily="34" charset="-120"/>
              </a:rPr>
              <a:t>09  ·  QUALITÉ</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400" b="1" dirty="0">
                <a:solidFill>
                  <a:srgbClr val="0F172A"/>
                </a:solidFill>
                <a:latin typeface="Inter" pitchFamily="34" charset="0"/>
                <a:ea typeface="Inter" pitchFamily="34" charset="-122"/>
                <a:cs typeface="Inter" pitchFamily="34" charset="-120"/>
              </a:rPr>
              <a:t>Tester, puis surmonter les défis</a:t>
            </a:r>
            <a:endParaRPr lang="en-US" sz="3400" dirty="0"/>
          </a:p>
        </p:txBody>
      </p:sp>
      <p:sp>
        <p:nvSpPr>
          <p:cNvPr id="4" name="Shape 2"/>
          <p:cNvSpPr/>
          <p:nvPr/>
        </p:nvSpPr>
        <p:spPr>
          <a:xfrm>
            <a:off x="548640" y="1645920"/>
            <a:ext cx="3749040" cy="4526280"/>
          </a:xfrm>
          <a:prstGeom prst="roundRect">
            <a:avLst>
              <a:gd name="adj" fmla="val 2927"/>
            </a:avLst>
          </a:prstGeom>
          <a:solidFill>
            <a:srgbClr val="0F172A"/>
          </a:solidFill>
          <a:ln w="12700">
            <a:solidFill>
              <a:srgbClr val="0F172A"/>
            </a:solidFill>
            <a:prstDash val="solid"/>
          </a:ln>
        </p:spPr>
      </p:sp>
      <p:sp>
        <p:nvSpPr>
          <p:cNvPr id="5" name="Text 3"/>
          <p:cNvSpPr txBox="1"/>
          <p:nvPr/>
        </p:nvSpPr>
        <p:spPr>
          <a:xfrm>
            <a:off x="914400" y="1874520"/>
            <a:ext cx="3017520" cy="1371600"/>
          </a:xfrm>
          <a:prstGeom prst="rect">
            <a:avLst/>
          </a:prstGeom>
          <a:noFill/>
          <a:ln/>
        </p:spPr>
        <p:txBody>
          <a:bodyPr wrap="square" lIns="0" tIns="0" rIns="0" bIns="0" rtlCol="0" anchor="t"/>
          <a:lstStyle/>
          <a:p>
            <a:pPr indent="0" marL="0">
              <a:buNone/>
            </a:pPr>
            <a:r>
              <a:rPr lang="en-US" sz="9600" b="1" dirty="0">
                <a:solidFill>
                  <a:srgbClr val="FFFFFF"/>
                </a:solidFill>
                <a:latin typeface="Inter" pitchFamily="34" charset="0"/>
                <a:ea typeface="Inter" pitchFamily="34" charset="-122"/>
                <a:cs typeface="Inter" pitchFamily="34" charset="-120"/>
              </a:rPr>
              <a:t>30</a:t>
            </a:r>
            <a:endParaRPr lang="en-US" sz="9600" dirty="0"/>
          </a:p>
        </p:txBody>
      </p:sp>
      <p:sp>
        <p:nvSpPr>
          <p:cNvPr id="6" name="Text 4"/>
          <p:cNvSpPr txBox="1"/>
          <p:nvPr/>
        </p:nvSpPr>
        <p:spPr>
          <a:xfrm>
            <a:off x="914400" y="3291840"/>
            <a:ext cx="3017520" cy="457200"/>
          </a:xfrm>
          <a:prstGeom prst="rect">
            <a:avLst/>
          </a:prstGeom>
          <a:noFill/>
          <a:ln/>
        </p:spPr>
        <p:txBody>
          <a:bodyPr wrap="square" lIns="0" tIns="0" rIns="0" bIns="0" rtlCol="0" anchor="t"/>
          <a:lstStyle/>
          <a:p>
            <a:pPr indent="0" marL="0">
              <a:buNone/>
            </a:pPr>
            <a:r>
              <a:rPr lang="en-US" sz="2200" b="1" dirty="0">
                <a:solidFill>
                  <a:srgbClr val="FFFFFF"/>
                </a:solidFill>
                <a:latin typeface="Inter" pitchFamily="34" charset="0"/>
                <a:ea typeface="Inter" pitchFamily="34" charset="-122"/>
                <a:cs typeface="Inter" pitchFamily="34" charset="-120"/>
              </a:rPr>
              <a:t>tests automatisés</a:t>
            </a:r>
            <a:endParaRPr lang="en-US" sz="2200" dirty="0"/>
          </a:p>
        </p:txBody>
      </p:sp>
      <p:sp>
        <p:nvSpPr>
          <p:cNvPr id="7" name="Text 5"/>
          <p:cNvSpPr txBox="1"/>
          <p:nvPr/>
        </p:nvSpPr>
        <p:spPr>
          <a:xfrm>
            <a:off x="914400" y="3840480"/>
            <a:ext cx="3063240" cy="1371600"/>
          </a:xfrm>
          <a:prstGeom prst="rect">
            <a:avLst/>
          </a:prstGeom>
          <a:noFill/>
          <a:ln/>
        </p:spPr>
        <p:txBody>
          <a:bodyPr wrap="square" lIns="0" tIns="0" rIns="0" bIns="0" rtlCol="0" anchor="t"/>
          <a:lstStyle/>
          <a:p>
            <a:pPr indent="0" marL="0">
              <a:lnSpc>
                <a:spcPct val="110000"/>
              </a:lnSpc>
              <a:buNone/>
            </a:pPr>
            <a:r>
              <a:rPr lang="en-US" sz="1400" dirty="0">
                <a:solidFill>
                  <a:srgbClr val="CBD5E1"/>
                </a:solidFill>
                <a:latin typeface="Inter" pitchFamily="34" charset="0"/>
                <a:ea typeface="Inter" pitchFamily="34" charset="-122"/>
                <a:cs typeface="Inter" pitchFamily="34" charset="-120"/>
              </a:rPr>
              <a:t>Backend Django : permissions par rôle, visibilité des interventions, tableaux de bord, dates, assistant IA, géolocalisation.</a:t>
            </a:r>
            <a:endParaRPr lang="en-US" sz="1400" dirty="0"/>
          </a:p>
        </p:txBody>
      </p:sp>
      <p:sp>
        <p:nvSpPr>
          <p:cNvPr id="8" name="Shape 6"/>
          <p:cNvSpPr/>
          <p:nvPr/>
        </p:nvSpPr>
        <p:spPr>
          <a:xfrm>
            <a:off x="914400" y="5440680"/>
            <a:ext cx="1737360" cy="411480"/>
          </a:xfrm>
          <a:prstGeom prst="roundRect">
            <a:avLst>
              <a:gd name="adj" fmla="val 48889"/>
            </a:avLst>
          </a:prstGeom>
          <a:solidFill>
            <a:srgbClr val="16A34A"/>
          </a:solidFill>
          <a:ln w="12700">
            <a:solidFill>
              <a:srgbClr val="16A34A"/>
            </a:solidFill>
            <a:prstDash val="solid"/>
          </a:ln>
        </p:spPr>
      </p:sp>
      <p:sp>
        <p:nvSpPr>
          <p:cNvPr id="9" name="Text 7"/>
          <p:cNvSpPr txBox="1"/>
          <p:nvPr/>
        </p:nvSpPr>
        <p:spPr>
          <a:xfrm>
            <a:off x="914400" y="5440680"/>
            <a:ext cx="17373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 / 30 réussis</a:t>
            </a:r>
            <a:endParaRPr lang="en-US" sz="1300" dirty="0"/>
          </a:p>
        </p:txBody>
      </p:sp>
      <p:sp>
        <p:nvSpPr>
          <p:cNvPr id="10" name="Shape 8"/>
          <p:cNvSpPr/>
          <p:nvPr/>
        </p:nvSpPr>
        <p:spPr>
          <a:xfrm>
            <a:off x="4663440" y="1645920"/>
            <a:ext cx="6979615" cy="1371600"/>
          </a:xfrm>
          <a:prstGeom prst="roundRect">
            <a:avLst>
              <a:gd name="adj" fmla="val 8000"/>
            </a:avLst>
          </a:prstGeom>
          <a:solidFill>
            <a:srgbClr val="F8FAFC"/>
          </a:solidFill>
          <a:ln w="9525">
            <a:solidFill>
              <a:srgbClr val="E2E8F0"/>
            </a:solidFill>
            <a:prstDash val="solid"/>
          </a:ln>
        </p:spPr>
      </p:sp>
      <p:sp>
        <p:nvSpPr>
          <p:cNvPr id="11" name="Shape 9"/>
          <p:cNvSpPr/>
          <p:nvPr/>
        </p:nvSpPr>
        <p:spPr>
          <a:xfrm>
            <a:off x="4937760" y="1988820"/>
            <a:ext cx="685800" cy="685800"/>
          </a:xfrm>
          <a:prstGeom prst="roundRect">
            <a:avLst>
              <a:gd name="adj" fmla="val 18667"/>
            </a:avLst>
          </a:prstGeom>
          <a:solidFill>
            <a:srgbClr val="DCFCE7"/>
          </a:solidFill>
          <a:ln w="12700">
            <a:solidFill>
              <a:srgbClr val="DCFCE7"/>
            </a:solidFill>
            <a:prstDash val="solid"/>
          </a:ln>
        </p:spPr>
      </p:sp>
      <p:pic>
        <p:nvPicPr>
          <p:cNvPr id="12" name="Image 0" descr="preencoded.png">    </p:cNvPr>
          <p:cNvPicPr>
            <a:picLocks noChangeAspect="1"/>
          </p:cNvPicPr>
          <p:nvPr/>
        </p:nvPicPr>
        <p:blipFill>
          <a:blip r:embed="rId1"/>
          <a:stretch>
            <a:fillRect/>
          </a:stretch>
        </p:blipFill>
        <p:spPr>
          <a:xfrm>
            <a:off x="5116068" y="2167128"/>
            <a:ext cx="329184" cy="329184"/>
          </a:xfrm>
          <a:prstGeom prst="rect">
            <a:avLst/>
          </a:prstGeom>
        </p:spPr>
      </p:pic>
      <p:sp>
        <p:nvSpPr>
          <p:cNvPr id="13" name="Text 10"/>
          <p:cNvSpPr txBox="1"/>
          <p:nvPr/>
        </p:nvSpPr>
        <p:spPr>
          <a:xfrm>
            <a:off x="5852160" y="1828800"/>
            <a:ext cx="5562295" cy="1051560"/>
          </a:xfrm>
          <a:prstGeom prst="rect">
            <a:avLst/>
          </a:prstGeom>
          <a:noFill/>
          <a:ln/>
        </p:spPr>
        <p:txBody>
          <a:bodyPr wrap="square" lIns="0" tIns="0" rIns="0" bIns="0" rtlCol="0" anchor="t"/>
          <a:lstStyle/>
          <a:p>
            <a:pPr indent="0" marL="0">
              <a:spcAft>
                <a:spcPts val="300"/>
              </a:spcAft>
              <a:buNone/>
            </a:pPr>
            <a:r>
              <a:rPr lang="en-US" sz="1700" b="1" dirty="0">
                <a:solidFill>
                  <a:srgbClr val="0F172A"/>
                </a:solidFill>
                <a:latin typeface="Inter" pitchFamily="34" charset="0"/>
                <a:ea typeface="Inter" pitchFamily="34" charset="-122"/>
                <a:cs typeface="Inter" pitchFamily="34" charset="-120"/>
              </a:rPr>
              <a:t>Temps réel</a:t>
            </a:r>
            <a:endParaRPr lang="en-US" sz="1700" dirty="0"/>
          </a:p>
          <a:p>
            <a:pPr indent="0" marL="0">
              <a:spcAft>
                <a:spcPts val="300"/>
              </a:spcAft>
              <a:buNone/>
            </a:pPr>
            <a:r>
              <a:rPr lang="en-US" sz="1300" b="1" dirty="0">
                <a:solidFill>
                  <a:srgbClr val="64748B"/>
                </a:solidFill>
                <a:latin typeface="Inter" pitchFamily="34" charset="0"/>
                <a:ea typeface="Inter" pitchFamily="34" charset="-122"/>
                <a:cs typeface="Inter" pitchFamily="34" charset="-120"/>
              </a:rPr>
              <a:t>Problème : </a:t>
            </a:r>
            <a:pPr indent="0" marL="0">
              <a:spcAft>
                <a:spcPts val="300"/>
              </a:spcAft>
              <a:buNone/>
            </a:pPr>
            <a:r>
              <a:rPr lang="en-US" sz="1300" dirty="0">
                <a:solidFill>
                  <a:srgbClr val="64748B"/>
                </a:solidFill>
                <a:latin typeface="Inter" pitchFamily="34" charset="0"/>
                <a:ea typeface="Inter" pitchFamily="34" charset="-122"/>
                <a:cs typeface="Inter" pitchFamily="34" charset="-120"/>
              </a:rPr>
              <a:t>La connexion WebSocket peut tomber.</a:t>
            </a:r>
            <a:endParaRPr lang="en-US" sz="1700" dirty="0"/>
          </a:p>
          <a:p>
            <a:pPr indent="0" marL="0">
              <a:spcAft>
                <a:spcPts val="300"/>
              </a:spcAft>
              <a:buNone/>
            </a:pPr>
            <a:r>
              <a:rPr lang="en-US" sz="1400" b="1" dirty="0">
                <a:solidFill>
                  <a:srgbClr val="2563EB"/>
                </a:solidFill>
                <a:latin typeface="Inter" pitchFamily="34" charset="0"/>
                <a:ea typeface="Inter" pitchFamily="34" charset="-122"/>
                <a:cs typeface="Inter" pitchFamily="34" charset="-120"/>
              </a:rPr>
              <a:t>Solution : </a:t>
            </a:r>
            <a:pPr indent="0" marL="0">
              <a:spcAft>
                <a:spcPts val="300"/>
              </a:spcAft>
              <a:buNone/>
            </a:pPr>
            <a:r>
              <a:rPr lang="en-US" sz="1400" dirty="0">
                <a:solidFill>
                  <a:srgbClr val="0F172A"/>
                </a:solidFill>
                <a:latin typeface="Inter" pitchFamily="34" charset="0"/>
                <a:ea typeface="Inter" pitchFamily="34" charset="-122"/>
                <a:cs typeface="Inter" pitchFamily="34" charset="-120"/>
              </a:rPr>
              <a:t>Repli automatique sur l’API REST.</a:t>
            </a:r>
            <a:endParaRPr lang="en-US" sz="1700" dirty="0"/>
          </a:p>
        </p:txBody>
      </p:sp>
      <p:sp>
        <p:nvSpPr>
          <p:cNvPr id="14" name="Shape 11"/>
          <p:cNvSpPr/>
          <p:nvPr/>
        </p:nvSpPr>
        <p:spPr>
          <a:xfrm>
            <a:off x="4663440" y="3200400"/>
            <a:ext cx="6979615" cy="1371600"/>
          </a:xfrm>
          <a:prstGeom prst="roundRect">
            <a:avLst>
              <a:gd name="adj" fmla="val 8000"/>
            </a:avLst>
          </a:prstGeom>
          <a:solidFill>
            <a:srgbClr val="F8FAFC"/>
          </a:solidFill>
          <a:ln w="9525">
            <a:solidFill>
              <a:srgbClr val="E2E8F0"/>
            </a:solidFill>
            <a:prstDash val="solid"/>
          </a:ln>
        </p:spPr>
      </p:sp>
      <p:sp>
        <p:nvSpPr>
          <p:cNvPr id="15" name="Shape 12"/>
          <p:cNvSpPr/>
          <p:nvPr/>
        </p:nvSpPr>
        <p:spPr>
          <a:xfrm>
            <a:off x="4937760" y="3543300"/>
            <a:ext cx="685800" cy="685800"/>
          </a:xfrm>
          <a:prstGeom prst="roundRect">
            <a:avLst>
              <a:gd name="adj" fmla="val 18667"/>
            </a:avLst>
          </a:prstGeom>
          <a:solidFill>
            <a:srgbClr val="DBEAFE"/>
          </a:solidFill>
          <a:ln w="12700">
            <a:solidFill>
              <a:srgbClr val="DBEAFE"/>
            </a:solidFill>
            <a:prstDash val="solid"/>
          </a:ln>
        </p:spPr>
      </p:sp>
      <p:pic>
        <p:nvPicPr>
          <p:cNvPr id="16" name="Image 1" descr="preencoded.png">    </p:cNvPr>
          <p:cNvPicPr>
            <a:picLocks noChangeAspect="1"/>
          </p:cNvPicPr>
          <p:nvPr/>
        </p:nvPicPr>
        <p:blipFill>
          <a:blip r:embed="rId2"/>
          <a:stretch>
            <a:fillRect/>
          </a:stretch>
        </p:blipFill>
        <p:spPr>
          <a:xfrm>
            <a:off x="5116068" y="3721608"/>
            <a:ext cx="329184" cy="329184"/>
          </a:xfrm>
          <a:prstGeom prst="rect">
            <a:avLst/>
          </a:prstGeom>
        </p:spPr>
      </p:pic>
      <p:sp>
        <p:nvSpPr>
          <p:cNvPr id="17" name="Text 13"/>
          <p:cNvSpPr txBox="1"/>
          <p:nvPr/>
        </p:nvSpPr>
        <p:spPr>
          <a:xfrm>
            <a:off x="5852160" y="3383280"/>
            <a:ext cx="5562295" cy="1051560"/>
          </a:xfrm>
          <a:prstGeom prst="rect">
            <a:avLst/>
          </a:prstGeom>
          <a:noFill/>
          <a:ln/>
        </p:spPr>
        <p:txBody>
          <a:bodyPr wrap="square" lIns="0" tIns="0" rIns="0" bIns="0" rtlCol="0" anchor="t"/>
          <a:lstStyle/>
          <a:p>
            <a:pPr indent="0" marL="0">
              <a:spcAft>
                <a:spcPts val="300"/>
              </a:spcAft>
              <a:buNone/>
            </a:pPr>
            <a:r>
              <a:rPr lang="en-US" sz="1700" b="1" dirty="0">
                <a:solidFill>
                  <a:srgbClr val="0F172A"/>
                </a:solidFill>
                <a:latin typeface="Inter" pitchFamily="34" charset="0"/>
                <a:ea typeface="Inter" pitchFamily="34" charset="-122"/>
                <a:cs typeface="Inter" pitchFamily="34" charset="-120"/>
              </a:rPr>
              <a:t>Assistant IA</a:t>
            </a:r>
            <a:endParaRPr lang="en-US" sz="1700" dirty="0"/>
          </a:p>
          <a:p>
            <a:pPr indent="0" marL="0">
              <a:spcAft>
                <a:spcPts val="300"/>
              </a:spcAft>
              <a:buNone/>
            </a:pPr>
            <a:r>
              <a:rPr lang="en-US" sz="1300" b="1" dirty="0">
                <a:solidFill>
                  <a:srgbClr val="64748B"/>
                </a:solidFill>
                <a:latin typeface="Inter" pitchFamily="34" charset="0"/>
                <a:ea typeface="Inter" pitchFamily="34" charset="-122"/>
                <a:cs typeface="Inter" pitchFamily="34" charset="-120"/>
              </a:rPr>
              <a:t>Problème : </a:t>
            </a:r>
            <a:pPr indent="0" marL="0">
              <a:spcAft>
                <a:spcPts val="300"/>
              </a:spcAft>
              <a:buNone/>
            </a:pPr>
            <a:r>
              <a:rPr lang="en-US" sz="1300" dirty="0">
                <a:solidFill>
                  <a:srgbClr val="64748B"/>
                </a:solidFill>
                <a:latin typeface="Inter" pitchFamily="34" charset="0"/>
                <a:ea typeface="Inter" pitchFamily="34" charset="-122"/>
                <a:cs typeface="Inter" pitchFamily="34" charset="-120"/>
              </a:rPr>
              <a:t>Les modèles Gemini sont régulièrement retirés.</a:t>
            </a:r>
            <a:endParaRPr lang="en-US" sz="1700" dirty="0"/>
          </a:p>
          <a:p>
            <a:pPr indent="0" marL="0">
              <a:spcAft>
                <a:spcPts val="300"/>
              </a:spcAft>
              <a:buNone/>
            </a:pPr>
            <a:r>
              <a:rPr lang="en-US" sz="1400" b="1" dirty="0">
                <a:solidFill>
                  <a:srgbClr val="2563EB"/>
                </a:solidFill>
                <a:latin typeface="Inter" pitchFamily="34" charset="0"/>
                <a:ea typeface="Inter" pitchFamily="34" charset="-122"/>
                <a:cs typeface="Inter" pitchFamily="34" charset="-120"/>
              </a:rPr>
              <a:t>Solution : </a:t>
            </a:r>
            <a:pPr indent="0" marL="0">
              <a:spcAft>
                <a:spcPts val="300"/>
              </a:spcAft>
              <a:buNone/>
            </a:pPr>
            <a:r>
              <a:rPr lang="en-US" sz="1400" dirty="0">
                <a:solidFill>
                  <a:srgbClr val="0F172A"/>
                </a:solidFill>
                <a:latin typeface="Inter" pitchFamily="34" charset="0"/>
                <a:ea typeface="Inter" pitchFamily="34" charset="-122"/>
                <a:cs typeface="Inter" pitchFamily="34" charset="-120"/>
              </a:rPr>
              <a:t>Choix automatique d’un modèle disponible.</a:t>
            </a:r>
            <a:endParaRPr lang="en-US" sz="1700" dirty="0"/>
          </a:p>
        </p:txBody>
      </p:sp>
      <p:sp>
        <p:nvSpPr>
          <p:cNvPr id="18" name="Shape 14"/>
          <p:cNvSpPr/>
          <p:nvPr/>
        </p:nvSpPr>
        <p:spPr>
          <a:xfrm>
            <a:off x="4663440" y="4754880"/>
            <a:ext cx="6979615" cy="1371600"/>
          </a:xfrm>
          <a:prstGeom prst="roundRect">
            <a:avLst>
              <a:gd name="adj" fmla="val 8000"/>
            </a:avLst>
          </a:prstGeom>
          <a:solidFill>
            <a:srgbClr val="F8FAFC"/>
          </a:solidFill>
          <a:ln w="9525">
            <a:solidFill>
              <a:srgbClr val="E2E8F0"/>
            </a:solidFill>
            <a:prstDash val="solid"/>
          </a:ln>
        </p:spPr>
      </p:sp>
      <p:sp>
        <p:nvSpPr>
          <p:cNvPr id="19" name="Shape 15"/>
          <p:cNvSpPr/>
          <p:nvPr/>
        </p:nvSpPr>
        <p:spPr>
          <a:xfrm>
            <a:off x="4937760" y="5097780"/>
            <a:ext cx="685800" cy="685800"/>
          </a:xfrm>
          <a:prstGeom prst="roundRect">
            <a:avLst>
              <a:gd name="adj" fmla="val 18667"/>
            </a:avLst>
          </a:prstGeom>
          <a:solidFill>
            <a:srgbClr val="FEE2E2"/>
          </a:solidFill>
          <a:ln w="12700">
            <a:solidFill>
              <a:srgbClr val="FEE2E2"/>
            </a:solidFill>
            <a:prstDash val="solid"/>
          </a:ln>
        </p:spPr>
      </p:sp>
      <p:pic>
        <p:nvPicPr>
          <p:cNvPr id="20" name="Image 2" descr="preencoded.png">    </p:cNvPr>
          <p:cNvPicPr>
            <a:picLocks noChangeAspect="1"/>
          </p:cNvPicPr>
          <p:nvPr/>
        </p:nvPicPr>
        <p:blipFill>
          <a:blip r:embed="rId3"/>
          <a:stretch>
            <a:fillRect/>
          </a:stretch>
        </p:blipFill>
        <p:spPr>
          <a:xfrm>
            <a:off x="5116068" y="5276088"/>
            <a:ext cx="329184" cy="329184"/>
          </a:xfrm>
          <a:prstGeom prst="rect">
            <a:avLst/>
          </a:prstGeom>
        </p:spPr>
      </p:pic>
      <p:sp>
        <p:nvSpPr>
          <p:cNvPr id="21" name="Text 16"/>
          <p:cNvSpPr txBox="1"/>
          <p:nvPr/>
        </p:nvSpPr>
        <p:spPr>
          <a:xfrm>
            <a:off x="5852160" y="4937760"/>
            <a:ext cx="5562295" cy="1051560"/>
          </a:xfrm>
          <a:prstGeom prst="rect">
            <a:avLst/>
          </a:prstGeom>
          <a:noFill/>
          <a:ln/>
        </p:spPr>
        <p:txBody>
          <a:bodyPr wrap="square" lIns="0" tIns="0" rIns="0" bIns="0" rtlCol="0" anchor="t"/>
          <a:lstStyle/>
          <a:p>
            <a:pPr indent="0" marL="0">
              <a:spcAft>
                <a:spcPts val="300"/>
              </a:spcAft>
              <a:buNone/>
            </a:pPr>
            <a:r>
              <a:rPr lang="en-US" sz="1700" b="1" dirty="0">
                <a:solidFill>
                  <a:srgbClr val="0F172A"/>
                </a:solidFill>
                <a:latin typeface="Inter" pitchFamily="34" charset="0"/>
                <a:ea typeface="Inter" pitchFamily="34" charset="-122"/>
                <a:cs typeface="Inter" pitchFamily="34" charset="-120"/>
              </a:rPr>
              <a:t>Sécurité</a:t>
            </a:r>
            <a:endParaRPr lang="en-US" sz="1700" dirty="0"/>
          </a:p>
          <a:p>
            <a:pPr indent="0" marL="0">
              <a:spcAft>
                <a:spcPts val="300"/>
              </a:spcAft>
              <a:buNone/>
            </a:pPr>
            <a:r>
              <a:rPr lang="en-US" sz="1300" b="1" dirty="0">
                <a:solidFill>
                  <a:srgbClr val="64748B"/>
                </a:solidFill>
                <a:latin typeface="Inter" pitchFamily="34" charset="0"/>
                <a:ea typeface="Inter" pitchFamily="34" charset="-122"/>
                <a:cs typeface="Inter" pitchFamily="34" charset="-120"/>
              </a:rPr>
              <a:t>Problème : </a:t>
            </a:r>
            <a:pPr indent="0" marL="0">
              <a:spcAft>
                <a:spcPts val="300"/>
              </a:spcAft>
              <a:buNone/>
            </a:pPr>
            <a:r>
              <a:rPr lang="en-US" sz="1300" dirty="0">
                <a:solidFill>
                  <a:srgbClr val="64748B"/>
                </a:solidFill>
                <a:latin typeface="Inter" pitchFamily="34" charset="0"/>
                <a:ea typeface="Inter" pitchFamily="34" charset="-122"/>
                <a:cs typeface="Inter" pitchFamily="34" charset="-120"/>
              </a:rPr>
              <a:t>Un rôle ne doit jamais voir les données d’un autre.</a:t>
            </a:r>
            <a:endParaRPr lang="en-US" sz="1700" dirty="0"/>
          </a:p>
          <a:p>
            <a:pPr indent="0" marL="0">
              <a:spcAft>
                <a:spcPts val="300"/>
              </a:spcAft>
              <a:buNone/>
            </a:pPr>
            <a:r>
              <a:rPr lang="en-US" sz="1400" b="1" dirty="0">
                <a:solidFill>
                  <a:srgbClr val="2563EB"/>
                </a:solidFill>
                <a:latin typeface="Inter" pitchFamily="34" charset="0"/>
                <a:ea typeface="Inter" pitchFamily="34" charset="-122"/>
                <a:cs typeface="Inter" pitchFamily="34" charset="-120"/>
              </a:rPr>
              <a:t>Solution : </a:t>
            </a:r>
            <a:pPr indent="0" marL="0">
              <a:spcAft>
                <a:spcPts val="300"/>
              </a:spcAft>
              <a:buNone/>
            </a:pPr>
            <a:r>
              <a:rPr lang="en-US" sz="1400" dirty="0">
                <a:solidFill>
                  <a:srgbClr val="0F172A"/>
                </a:solidFill>
                <a:latin typeface="Inter" pitchFamily="34" charset="0"/>
                <a:ea typeface="Inter" pitchFamily="34" charset="-122"/>
                <a:cs typeface="Inter" pitchFamily="34" charset="-120"/>
              </a:rPr>
              <a:t>Permissions vérifiées côté serveur sur chaque API.</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017520" y="3931920"/>
            <a:ext cx="5943600" cy="5943600"/>
          </a:xfrm>
          <a:prstGeom prst="ellipse">
            <a:avLst/>
          </a:prstGeom>
          <a:solidFill>
            <a:srgbClr val="2563EB">
              <a:alpha val="15000"/>
            </a:srgbClr>
          </a:solidFill>
          <a:ln w="12700">
            <a:solidFill>
              <a:srgbClr val="0F172A">
                <a:alpha val="0"/>
              </a:srgbClr>
            </a:solidFill>
            <a:prstDash val="solid"/>
          </a:ln>
        </p:spPr>
      </p:sp>
      <p:sp>
        <p:nvSpPr>
          <p:cNvPr id="3" name="Text 1"/>
          <p:cNvSpPr txBox="1"/>
          <p:nvPr/>
        </p:nvSpPr>
        <p:spPr>
          <a:xfrm>
            <a:off x="640080" y="731520"/>
            <a:ext cx="5486400" cy="274320"/>
          </a:xfrm>
          <a:prstGeom prst="rect">
            <a:avLst/>
          </a:prstGeom>
          <a:noFill/>
          <a:ln/>
        </p:spPr>
        <p:txBody>
          <a:bodyPr wrap="square" lIns="0" tIns="0" rIns="0" bIns="0" rtlCol="0" anchor="t"/>
          <a:lstStyle/>
          <a:p>
            <a:pPr indent="0" marL="0">
              <a:buNone/>
            </a:pPr>
            <a:r>
              <a:rPr lang="en-US" sz="1200" b="1" spc="200" kern="0" dirty="0">
                <a:solidFill>
                  <a:srgbClr val="F59E0B"/>
                </a:solidFill>
                <a:latin typeface="Inter" pitchFamily="34" charset="0"/>
                <a:ea typeface="Inter" pitchFamily="34" charset="-122"/>
                <a:cs typeface="Inter" pitchFamily="34" charset="-120"/>
              </a:rPr>
              <a:t>10  ·  CONCLUSION</a:t>
            </a:r>
            <a:endParaRPr lang="en-US" sz="1200" dirty="0"/>
          </a:p>
        </p:txBody>
      </p:sp>
      <p:sp>
        <p:nvSpPr>
          <p:cNvPr id="4" name="Text 2"/>
          <p:cNvSpPr txBox="1"/>
          <p:nvPr/>
        </p:nvSpPr>
        <p:spPr>
          <a:xfrm>
            <a:off x="640080" y="1097280"/>
            <a:ext cx="5486400" cy="1554480"/>
          </a:xfrm>
          <a:prstGeom prst="rect">
            <a:avLst/>
          </a:prstGeom>
          <a:noFill/>
          <a:ln/>
        </p:spPr>
        <p:txBody>
          <a:bodyPr wrap="square" lIns="0" tIns="0" rIns="0" bIns="0" rtlCol="0" anchor="t"/>
          <a:lstStyle/>
          <a:p>
            <a:pPr indent="0" marL="0">
              <a:lnSpc>
                <a:spcPct val="95000"/>
              </a:lnSpc>
              <a:buNone/>
            </a:pPr>
            <a:r>
              <a:rPr lang="en-US" sz="4400" b="1" dirty="0">
                <a:solidFill>
                  <a:srgbClr val="FFFFFF"/>
                </a:solidFill>
                <a:latin typeface="Inter" pitchFamily="34" charset="0"/>
                <a:ea typeface="Inter" pitchFamily="34" charset="-122"/>
                <a:cs typeface="Inter" pitchFamily="34" charset="-120"/>
              </a:rPr>
              <a:t>Une plateforme prête à évoluer</a:t>
            </a:r>
            <a:endParaRPr lang="en-US" sz="4400" dirty="0"/>
          </a:p>
        </p:txBody>
      </p:sp>
      <p:pic>
        <p:nvPicPr>
          <p:cNvPr id="5" name="Image 0" descr="preencoded.png">    </p:cNvPr>
          <p:cNvPicPr>
            <a:picLocks noChangeAspect="1"/>
          </p:cNvPicPr>
          <p:nvPr/>
        </p:nvPicPr>
        <p:blipFill>
          <a:blip r:embed="rId1"/>
          <a:stretch>
            <a:fillRect/>
          </a:stretch>
        </p:blipFill>
        <p:spPr>
          <a:xfrm>
            <a:off x="640080" y="3044952"/>
            <a:ext cx="292608" cy="292608"/>
          </a:xfrm>
          <a:prstGeom prst="rect">
            <a:avLst/>
          </a:prstGeom>
        </p:spPr>
      </p:pic>
      <p:sp>
        <p:nvSpPr>
          <p:cNvPr id="6" name="Text 3"/>
          <p:cNvSpPr txBox="1"/>
          <p:nvPr/>
        </p:nvSpPr>
        <p:spPr>
          <a:xfrm>
            <a:off x="1097280" y="3017520"/>
            <a:ext cx="4937760" cy="411480"/>
          </a:xfrm>
          <a:prstGeom prst="rect">
            <a:avLst/>
          </a:prstGeom>
          <a:noFill/>
          <a:ln/>
        </p:spPr>
        <p:txBody>
          <a:bodyPr wrap="square" lIns="0" tIns="0" rIns="0" bIns="0" rtlCol="0" anchor="t"/>
          <a:lstStyle/>
          <a:p>
            <a:pPr indent="0" marL="0">
              <a:buNone/>
            </a:pPr>
            <a:r>
              <a:rPr lang="en-US" sz="1600" dirty="0">
                <a:solidFill>
                  <a:srgbClr val="FFFFFF"/>
                </a:solidFill>
                <a:latin typeface="Inter" pitchFamily="34" charset="0"/>
                <a:ea typeface="Inter" pitchFamily="34" charset="-122"/>
                <a:cs typeface="Inter" pitchFamily="34" charset="-120"/>
              </a:rPr>
              <a:t>Un outil unique pour quatre rôles</a:t>
            </a:r>
            <a:endParaRPr lang="en-US" sz="1600" dirty="0"/>
          </a:p>
        </p:txBody>
      </p:sp>
      <p:pic>
        <p:nvPicPr>
          <p:cNvPr id="7" name="Image 1" descr="preencoded.png">    </p:cNvPr>
          <p:cNvPicPr>
            <a:picLocks noChangeAspect="1"/>
          </p:cNvPicPr>
          <p:nvPr/>
        </p:nvPicPr>
        <p:blipFill>
          <a:blip r:embed="rId2"/>
          <a:stretch>
            <a:fillRect/>
          </a:stretch>
        </p:blipFill>
        <p:spPr>
          <a:xfrm>
            <a:off x="640080" y="3611880"/>
            <a:ext cx="292608" cy="292608"/>
          </a:xfrm>
          <a:prstGeom prst="rect">
            <a:avLst/>
          </a:prstGeom>
        </p:spPr>
      </p:pic>
      <p:sp>
        <p:nvSpPr>
          <p:cNvPr id="8" name="Text 4"/>
          <p:cNvSpPr txBox="1"/>
          <p:nvPr/>
        </p:nvSpPr>
        <p:spPr>
          <a:xfrm>
            <a:off x="1097280" y="3584448"/>
            <a:ext cx="4937760" cy="411480"/>
          </a:xfrm>
          <a:prstGeom prst="rect">
            <a:avLst/>
          </a:prstGeom>
          <a:noFill/>
          <a:ln/>
        </p:spPr>
        <p:txBody>
          <a:bodyPr wrap="square" lIns="0" tIns="0" rIns="0" bIns="0" rtlCol="0" anchor="t"/>
          <a:lstStyle/>
          <a:p>
            <a:pPr indent="0" marL="0">
              <a:buNone/>
            </a:pPr>
            <a:r>
              <a:rPr lang="en-US" sz="1600" dirty="0">
                <a:solidFill>
                  <a:srgbClr val="FFFFFF"/>
                </a:solidFill>
                <a:latin typeface="Inter" pitchFamily="34" charset="0"/>
                <a:ea typeface="Inter" pitchFamily="34" charset="-122"/>
                <a:cs typeface="Inter" pitchFamily="34" charset="-120"/>
              </a:rPr>
              <a:t>Une traçabilité complète, de la demande au rapport</a:t>
            </a:r>
            <a:endParaRPr lang="en-US" sz="1600" dirty="0"/>
          </a:p>
        </p:txBody>
      </p:sp>
      <p:pic>
        <p:nvPicPr>
          <p:cNvPr id="9" name="Image 2" descr="preencoded.png">    </p:cNvPr>
          <p:cNvPicPr>
            <a:picLocks noChangeAspect="1"/>
          </p:cNvPicPr>
          <p:nvPr/>
        </p:nvPicPr>
        <p:blipFill>
          <a:blip r:embed="rId3"/>
          <a:stretch>
            <a:fillRect/>
          </a:stretch>
        </p:blipFill>
        <p:spPr>
          <a:xfrm>
            <a:off x="640080" y="4178808"/>
            <a:ext cx="292608" cy="292608"/>
          </a:xfrm>
          <a:prstGeom prst="rect">
            <a:avLst/>
          </a:prstGeom>
        </p:spPr>
      </p:pic>
      <p:sp>
        <p:nvSpPr>
          <p:cNvPr id="10" name="Text 5"/>
          <p:cNvSpPr txBox="1"/>
          <p:nvPr/>
        </p:nvSpPr>
        <p:spPr>
          <a:xfrm>
            <a:off x="1097280" y="4151376"/>
            <a:ext cx="4937760" cy="411480"/>
          </a:xfrm>
          <a:prstGeom prst="rect">
            <a:avLst/>
          </a:prstGeom>
          <a:noFill/>
          <a:ln/>
        </p:spPr>
        <p:txBody>
          <a:bodyPr wrap="square" lIns="0" tIns="0" rIns="0" bIns="0" rtlCol="0" anchor="t"/>
          <a:lstStyle/>
          <a:p>
            <a:pPr indent="0" marL="0">
              <a:buNone/>
            </a:pPr>
            <a:r>
              <a:rPr lang="en-US" sz="1600" dirty="0">
                <a:solidFill>
                  <a:srgbClr val="FFFFFF"/>
                </a:solidFill>
                <a:latin typeface="Inter" pitchFamily="34" charset="0"/>
                <a:ea typeface="Inter" pitchFamily="34" charset="-122"/>
                <a:cs typeface="Inter" pitchFamily="34" charset="-120"/>
              </a:rPr>
              <a:t>Temps réel, IA et sécurité intégrés</a:t>
            </a:r>
            <a:endParaRPr lang="en-US" sz="1600" dirty="0"/>
          </a:p>
        </p:txBody>
      </p:sp>
      <p:sp>
        <p:nvSpPr>
          <p:cNvPr id="11" name="Shape 6"/>
          <p:cNvSpPr/>
          <p:nvPr/>
        </p:nvSpPr>
        <p:spPr>
          <a:xfrm>
            <a:off x="6675120" y="731520"/>
            <a:ext cx="4965192" cy="4206240"/>
          </a:xfrm>
          <a:prstGeom prst="roundRect">
            <a:avLst>
              <a:gd name="adj" fmla="val 2609"/>
            </a:avLst>
          </a:prstGeom>
          <a:solidFill>
            <a:srgbClr val="1E293B"/>
          </a:solidFill>
          <a:ln w="9525">
            <a:solidFill>
              <a:srgbClr val="334155"/>
            </a:solidFill>
            <a:prstDash val="solid"/>
          </a:ln>
        </p:spPr>
      </p:sp>
      <p:sp>
        <p:nvSpPr>
          <p:cNvPr id="12" name="Text 7"/>
          <p:cNvSpPr txBox="1"/>
          <p:nvPr/>
        </p:nvSpPr>
        <p:spPr>
          <a:xfrm>
            <a:off x="7040880" y="1051560"/>
            <a:ext cx="3657600" cy="274320"/>
          </a:xfrm>
          <a:prstGeom prst="rect">
            <a:avLst/>
          </a:prstGeom>
          <a:noFill/>
          <a:ln/>
        </p:spPr>
        <p:txBody>
          <a:bodyPr wrap="square" lIns="0" tIns="0" rIns="0" bIns="0" rtlCol="0" anchor="t"/>
          <a:lstStyle/>
          <a:p>
            <a:pPr indent="0" marL="0">
              <a:buNone/>
            </a:pPr>
            <a:r>
              <a:rPr lang="en-US" sz="1200" b="1" spc="200" kern="0" dirty="0">
                <a:solidFill>
                  <a:srgbClr val="93C5FD"/>
                </a:solidFill>
                <a:latin typeface="Inter" pitchFamily="34" charset="0"/>
                <a:ea typeface="Inter" pitchFamily="34" charset="-122"/>
                <a:cs typeface="Inter" pitchFamily="34" charset="-120"/>
              </a:rPr>
              <a:t>PERSPECTIVES</a:t>
            </a:r>
            <a:endParaRPr lang="en-US" sz="1200" dirty="0"/>
          </a:p>
        </p:txBody>
      </p:sp>
      <p:sp>
        <p:nvSpPr>
          <p:cNvPr id="13" name="Shape 8"/>
          <p:cNvSpPr/>
          <p:nvPr/>
        </p:nvSpPr>
        <p:spPr>
          <a:xfrm>
            <a:off x="7040880" y="1554480"/>
            <a:ext cx="548640" cy="548640"/>
          </a:xfrm>
          <a:prstGeom prst="roundRect">
            <a:avLst>
              <a:gd name="adj" fmla="val 23333"/>
            </a:avLst>
          </a:prstGeom>
          <a:solidFill>
            <a:srgbClr val="334155"/>
          </a:solidFill>
          <a:ln w="12700">
            <a:solidFill>
              <a:srgbClr val="334155"/>
            </a:solidFill>
            <a:prstDash val="solid"/>
          </a:ln>
        </p:spPr>
      </p:sp>
      <p:pic>
        <p:nvPicPr>
          <p:cNvPr id="14" name="Image 3" descr="preencoded.png">    </p:cNvPr>
          <p:cNvPicPr>
            <a:picLocks noChangeAspect="1"/>
          </p:cNvPicPr>
          <p:nvPr/>
        </p:nvPicPr>
        <p:blipFill>
          <a:blip r:embed="rId4"/>
          <a:stretch>
            <a:fillRect/>
          </a:stretch>
        </p:blipFill>
        <p:spPr>
          <a:xfrm>
            <a:off x="7183526" y="1697126"/>
            <a:ext cx="263347" cy="263347"/>
          </a:xfrm>
          <a:prstGeom prst="rect">
            <a:avLst/>
          </a:prstGeom>
        </p:spPr>
      </p:pic>
      <p:sp>
        <p:nvSpPr>
          <p:cNvPr id="15" name="Text 9"/>
          <p:cNvSpPr txBox="1"/>
          <p:nvPr/>
        </p:nvSpPr>
        <p:spPr>
          <a:xfrm>
            <a:off x="7818120" y="1554480"/>
            <a:ext cx="3611880" cy="54864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Application mobile pour les techniciens</a:t>
            </a:r>
            <a:endParaRPr lang="en-US" sz="1600" dirty="0"/>
          </a:p>
        </p:txBody>
      </p:sp>
      <p:sp>
        <p:nvSpPr>
          <p:cNvPr id="16" name="Shape 10"/>
          <p:cNvSpPr/>
          <p:nvPr/>
        </p:nvSpPr>
        <p:spPr>
          <a:xfrm>
            <a:off x="7040880" y="2359152"/>
            <a:ext cx="548640" cy="548640"/>
          </a:xfrm>
          <a:prstGeom prst="roundRect">
            <a:avLst>
              <a:gd name="adj" fmla="val 23333"/>
            </a:avLst>
          </a:prstGeom>
          <a:solidFill>
            <a:srgbClr val="334155"/>
          </a:solidFill>
          <a:ln w="12700">
            <a:solidFill>
              <a:srgbClr val="334155"/>
            </a:solidFill>
            <a:prstDash val="solid"/>
          </a:ln>
        </p:spPr>
      </p:sp>
      <p:pic>
        <p:nvPicPr>
          <p:cNvPr id="17" name="Image 4" descr="preencoded.png">    </p:cNvPr>
          <p:cNvPicPr>
            <a:picLocks noChangeAspect="1"/>
          </p:cNvPicPr>
          <p:nvPr/>
        </p:nvPicPr>
        <p:blipFill>
          <a:blip r:embed="rId5"/>
          <a:stretch>
            <a:fillRect/>
          </a:stretch>
        </p:blipFill>
        <p:spPr>
          <a:xfrm>
            <a:off x="7183526" y="2501798"/>
            <a:ext cx="263347" cy="263347"/>
          </a:xfrm>
          <a:prstGeom prst="rect">
            <a:avLst/>
          </a:prstGeom>
        </p:spPr>
      </p:pic>
      <p:sp>
        <p:nvSpPr>
          <p:cNvPr id="18" name="Text 11"/>
          <p:cNvSpPr txBox="1"/>
          <p:nvPr/>
        </p:nvSpPr>
        <p:spPr>
          <a:xfrm>
            <a:off x="7818120" y="2359152"/>
            <a:ext cx="3611880" cy="54864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Notifications push et SMS</a:t>
            </a:r>
            <a:endParaRPr lang="en-US" sz="1600" dirty="0"/>
          </a:p>
        </p:txBody>
      </p:sp>
      <p:sp>
        <p:nvSpPr>
          <p:cNvPr id="19" name="Shape 12"/>
          <p:cNvSpPr/>
          <p:nvPr/>
        </p:nvSpPr>
        <p:spPr>
          <a:xfrm>
            <a:off x="7040880" y="3163824"/>
            <a:ext cx="548640" cy="548640"/>
          </a:xfrm>
          <a:prstGeom prst="roundRect">
            <a:avLst>
              <a:gd name="adj" fmla="val 23333"/>
            </a:avLst>
          </a:prstGeom>
          <a:solidFill>
            <a:srgbClr val="334155"/>
          </a:solidFill>
          <a:ln w="12700">
            <a:solidFill>
              <a:srgbClr val="334155"/>
            </a:solidFill>
            <a:prstDash val="solid"/>
          </a:ln>
        </p:spPr>
      </p:sp>
      <p:pic>
        <p:nvPicPr>
          <p:cNvPr id="20" name="Image 5" descr="preencoded.png">    </p:cNvPr>
          <p:cNvPicPr>
            <a:picLocks noChangeAspect="1"/>
          </p:cNvPicPr>
          <p:nvPr/>
        </p:nvPicPr>
        <p:blipFill>
          <a:blip r:embed="rId6"/>
          <a:stretch>
            <a:fillRect/>
          </a:stretch>
        </p:blipFill>
        <p:spPr>
          <a:xfrm>
            <a:off x="7183526" y="3306470"/>
            <a:ext cx="263347" cy="263347"/>
          </a:xfrm>
          <a:prstGeom prst="rect">
            <a:avLst/>
          </a:prstGeom>
        </p:spPr>
      </p:pic>
      <p:sp>
        <p:nvSpPr>
          <p:cNvPr id="21" name="Text 13"/>
          <p:cNvSpPr txBox="1"/>
          <p:nvPr/>
        </p:nvSpPr>
        <p:spPr>
          <a:xfrm>
            <a:off x="7818120" y="3163824"/>
            <a:ext cx="3611880" cy="54864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Affectation optimisée par géolocalisation</a:t>
            </a:r>
            <a:endParaRPr lang="en-US" sz="1600" dirty="0"/>
          </a:p>
        </p:txBody>
      </p:sp>
      <p:sp>
        <p:nvSpPr>
          <p:cNvPr id="22" name="Shape 14"/>
          <p:cNvSpPr/>
          <p:nvPr/>
        </p:nvSpPr>
        <p:spPr>
          <a:xfrm>
            <a:off x="7040880" y="3968496"/>
            <a:ext cx="548640" cy="548640"/>
          </a:xfrm>
          <a:prstGeom prst="roundRect">
            <a:avLst>
              <a:gd name="adj" fmla="val 23333"/>
            </a:avLst>
          </a:prstGeom>
          <a:solidFill>
            <a:srgbClr val="334155"/>
          </a:solidFill>
          <a:ln w="12700">
            <a:solidFill>
              <a:srgbClr val="334155"/>
            </a:solidFill>
            <a:prstDash val="solid"/>
          </a:ln>
        </p:spPr>
      </p:sp>
      <p:pic>
        <p:nvPicPr>
          <p:cNvPr id="23" name="Image 6" descr="preencoded.png">    </p:cNvPr>
          <p:cNvPicPr>
            <a:picLocks noChangeAspect="1"/>
          </p:cNvPicPr>
          <p:nvPr/>
        </p:nvPicPr>
        <p:blipFill>
          <a:blip r:embed="rId7"/>
          <a:stretch>
            <a:fillRect/>
          </a:stretch>
        </p:blipFill>
        <p:spPr>
          <a:xfrm>
            <a:off x="7183526" y="4111142"/>
            <a:ext cx="263347" cy="263347"/>
          </a:xfrm>
          <a:prstGeom prst="rect">
            <a:avLst/>
          </a:prstGeom>
        </p:spPr>
      </p:pic>
      <p:sp>
        <p:nvSpPr>
          <p:cNvPr id="24" name="Text 15"/>
          <p:cNvSpPr txBox="1"/>
          <p:nvPr/>
        </p:nvSpPr>
        <p:spPr>
          <a:xfrm>
            <a:off x="7818120" y="3968496"/>
            <a:ext cx="3611880" cy="54864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Module de facturation</a:t>
            </a:r>
            <a:endParaRPr lang="en-US" sz="1600" dirty="0"/>
          </a:p>
        </p:txBody>
      </p:sp>
      <p:sp>
        <p:nvSpPr>
          <p:cNvPr id="25" name="Text 16"/>
          <p:cNvSpPr txBox="1"/>
          <p:nvPr/>
        </p:nvSpPr>
        <p:spPr>
          <a:xfrm>
            <a:off x="640080" y="5532120"/>
            <a:ext cx="10881360" cy="640080"/>
          </a:xfrm>
          <a:prstGeom prst="rect">
            <a:avLst/>
          </a:prstGeom>
          <a:noFill/>
          <a:ln/>
        </p:spPr>
        <p:txBody>
          <a:bodyPr wrap="square" lIns="0" tIns="0" rIns="0" bIns="0" rtlCol="0" anchor="ctr"/>
          <a:lstStyle/>
          <a:p>
            <a:pPr indent="0" marL="0">
              <a:buNone/>
            </a:pPr>
            <a:r>
              <a:rPr lang="en-US" sz="2800" b="1" dirty="0">
                <a:solidFill>
                  <a:srgbClr val="FFFFFF"/>
                </a:solidFill>
                <a:latin typeface="Inter" pitchFamily="34" charset="0"/>
                <a:ea typeface="Inter" pitchFamily="34" charset="-122"/>
                <a:cs typeface="Inter" pitchFamily="34" charset="-120"/>
              </a:rPr>
              <a:t>Merci pour votre attention</a:t>
            </a:r>
            <a:pPr indent="0" marL="0">
              <a:buNone/>
            </a:pPr>
            <a:r>
              <a:rPr lang="en-US" sz="2800" b="1" dirty="0">
                <a:solidFill>
                  <a:srgbClr val="F59E0B"/>
                </a:solidFill>
                <a:latin typeface="Inter" pitchFamily="34" charset="0"/>
                <a:ea typeface="Inter" pitchFamily="34" charset="-122"/>
                <a:cs typeface="Inter" pitchFamily="34" charset="-120"/>
              </a:rPr>
              <a:t>   ·   Questions ?</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InTech Interventions</dc:title>
  <dc:subject>PptxGenJS Presentation</dc:subject>
  <dc:creator>BenSalem Rania</dc:creator>
  <cp:lastModifiedBy>BenSalem Rania</cp:lastModifiedBy>
  <cp:revision>1</cp:revision>
  <dcterms:created xsi:type="dcterms:W3CDTF">2026-10-28T22:06:30Z</dcterms:created>
  <dcterms:modified xsi:type="dcterms:W3CDTF">2026-10-28T22:06:30Z</dcterms:modified>
</cp:coreProperties>
</file>